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We are excited to present SAARATHI. In India, over 40 million students are enrolled in higher education, but millions miss out on critical government aid, accredited learning paths, and internships because of fragmented portals and opaque criteria. Saarathi is an integrated, production-grade career companion that solves this problem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three core friction points on Slide 2. Government scholarship funds routinely lapse because students in Tier-2/3 institutions cannot decipher 40-page circulars. Simultaneously, generic job boards spray unvetted applicants. Saarathi addresses this structural gap with mathematical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illustrates Saarathi’s four unified pillars. Each pillar acts in concert: the Deterministic Engine provides trust; the Ingestion Radar provides freshness; the Skill Gap engine provides direction; and the AI Copilot provides personalized mentorship. This covers the entire student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pay special attention to Slide 4. A classic failure of amateur AI hackathons is having an LLM hallucinate: "You look eligible for ₹50,000!". If a student is missing their MeeSeva Income Certificate, Saarathi strictly caps conditional eligibility at 45%-55% and gives them a document task. We never give false 80%+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highlights our production data pipeline. Saarathi does not show hardcoded fake listings. We run an automated ingestion pipeline that indexes schemes, scholarships, and internships directly into SQLite with verified official URLs, deadlines, and eligibility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proves that Saarathi does not stop at diagnosing gaps; it bridges them. We map role taxonomies to free accredited courses from NPTEL, SWAYAM, and freeCodeCamp. Every course is evaluated against the student’s daily time availability, budget, and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demonstrates our production AI engineering. We do not rely on fragile single-key wrappers. OpenRouter gives us model-swapping resilience. In addition, our offline demo mode ensures the live presentation can run without internet. Furthermore, zero PII is ever sent to third-party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shows how Saarathi closes the loop. Many portals end at search. Saarathi generates an ATS-ready PDF resume and provides a full Kanban pipeline with deadline notifications so students never miss a follow-up or interview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outlines our clear monetization path. ₹99 per month is lower than a single movie ticket or fast food snack, perfectly tuned for Indian pocket-money dynamics. For colleges, Saarathi provides NIRF and NAAC accreditation placement reporting, providing high-ACV enterprise B2B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Saarathi is not just a hackathon prototype—it is a mission-critical platform designed for the 40 million students of Bharat. We bridge the gap between eligibility and employment. Thank you, and we welcome your questions and invite you to test drive the live platform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3A0A16">
              <a:alpha val="35000"/>
            </a:srgbClr>
          </a:solidFill>
          <a:ln w="12700">
            <a:solidFill>
              <a:srgbClr val="000000">
                <a:alpha val="0"/>
              </a:srgbClr>
            </a:solidFill>
            <a:prstDash val="solid"/>
          </a:ln>
        </p:spPr>
      </p:sp>
      <p:sp>
        <p:nvSpPr>
          <p:cNvPr id="3" name="Shape 1"/>
          <p:cNvSpPr/>
          <p:nvPr/>
        </p:nvSpPr>
        <p:spPr>
          <a:xfrm>
            <a:off x="731520" y="640080"/>
            <a:ext cx="4206240" cy="329184"/>
          </a:xfrm>
          <a:prstGeom prst="roundRect">
            <a:avLst>
              <a:gd name="adj" fmla="val 50000"/>
            </a:avLst>
          </a:prstGeom>
          <a:solidFill>
            <a:srgbClr val="4A101D"/>
          </a:solidFill>
          <a:ln w="12700">
            <a:solidFill>
              <a:srgbClr val="74182F"/>
            </a:solidFill>
            <a:prstDash val="solid"/>
          </a:ln>
        </p:spPr>
      </p:sp>
      <p:sp>
        <p:nvSpPr>
          <p:cNvPr id="4" name="Text 2"/>
          <p:cNvSpPr/>
          <p:nvPr/>
        </p:nvSpPr>
        <p:spPr>
          <a:xfrm>
            <a:off x="822960" y="640080"/>
            <a:ext cx="4023360" cy="329184"/>
          </a:xfrm>
          <a:prstGeom prst="rect">
            <a:avLst/>
          </a:prstGeom>
          <a:noFill/>
          <a:ln/>
        </p:spPr>
        <p:txBody>
          <a:bodyPr wrap="square" rtlCol="0" anchor="ctr"/>
          <a:lstStyle/>
          <a:p>
            <a:pPr algn="ctr" indent="0" marL="0">
              <a:buNone/>
            </a:pPr>
            <a:r>
              <a:rPr lang="en-US" sz="950" b="1" dirty="0">
                <a:solidFill>
                  <a:srgbClr val="FA947E"/>
                </a:solidFill>
                <a:latin typeface="Arial" pitchFamily="34" charset="0"/>
                <a:ea typeface="Arial" pitchFamily="34" charset="-122"/>
                <a:cs typeface="Arial" pitchFamily="34" charset="-120"/>
              </a:rPr>
              <a:t>STUDENT CAREER &amp; SCHOLARSHIP INTELLIGENCE • AY 2026-27</a:t>
            </a:r>
            <a:endParaRPr lang="en-US" sz="950" dirty="0"/>
          </a:p>
        </p:txBody>
      </p:sp>
      <p:sp>
        <p:nvSpPr>
          <p:cNvPr id="5" name="Text 3"/>
          <p:cNvSpPr/>
          <p:nvPr/>
        </p:nvSpPr>
        <p:spPr>
          <a:xfrm>
            <a:off x="731520" y="1143000"/>
            <a:ext cx="4754880" cy="777240"/>
          </a:xfrm>
          <a:prstGeom prst="rect">
            <a:avLst/>
          </a:prstGeom>
          <a:noFill/>
          <a:ln/>
        </p:spPr>
        <p:txBody>
          <a:bodyPr wrap="square" rtlCol="0" anchor="ctr"/>
          <a:lstStyle/>
          <a:p>
            <a:pPr indent="0" marL="0">
              <a:buNone/>
            </a:pPr>
            <a:r>
              <a:rPr lang="en-US" sz="3800" b="1" dirty="0">
                <a:solidFill>
                  <a:srgbClr val="FFFFFF"/>
                </a:solidFill>
                <a:latin typeface="Trebuchet MS" pitchFamily="34" charset="0"/>
                <a:ea typeface="Trebuchet MS" pitchFamily="34" charset="-122"/>
                <a:cs typeface="Trebuchet MS" pitchFamily="34" charset="-120"/>
              </a:rPr>
              <a:t>SAARATHI (సారథి)</a:t>
            </a:r>
            <a:endParaRPr lang="en-US" sz="3800" dirty="0"/>
          </a:p>
        </p:txBody>
      </p:sp>
      <p:sp>
        <p:nvSpPr>
          <p:cNvPr id="6" name="Text 4"/>
          <p:cNvSpPr/>
          <p:nvPr/>
        </p:nvSpPr>
        <p:spPr>
          <a:xfrm>
            <a:off x="731520" y="1965960"/>
            <a:ext cx="4754880" cy="411480"/>
          </a:xfrm>
          <a:prstGeom prst="rect">
            <a:avLst/>
          </a:prstGeom>
          <a:noFill/>
          <a:ln/>
        </p:spPr>
        <p:txBody>
          <a:bodyPr wrap="square" rtlCol="0" anchor="ctr"/>
          <a:lstStyle/>
          <a:p>
            <a:pPr indent="0" marL="0">
              <a:buNone/>
            </a:pPr>
            <a:r>
              <a:rPr lang="en-US" sz="2100" b="1" dirty="0">
                <a:solidFill>
                  <a:srgbClr val="FA947E"/>
                </a:solidFill>
                <a:latin typeface="Trebuchet MS" pitchFamily="34" charset="0"/>
                <a:ea typeface="Trebuchet MS" pitchFamily="34" charset="-122"/>
                <a:cs typeface="Trebuchet MS" pitchFamily="34" charset="-120"/>
              </a:rPr>
              <a:t>From Eligibility to Employment</a:t>
            </a:r>
            <a:endParaRPr lang="en-US" sz="2100" dirty="0"/>
          </a:p>
        </p:txBody>
      </p:sp>
      <p:sp>
        <p:nvSpPr>
          <p:cNvPr id="7" name="Text 5"/>
          <p:cNvSpPr/>
          <p:nvPr/>
        </p:nvSpPr>
        <p:spPr>
          <a:xfrm>
            <a:off x="731520" y="2514600"/>
            <a:ext cx="4572000" cy="960120"/>
          </a:xfrm>
          <a:prstGeom prst="rect">
            <a:avLst/>
          </a:prstGeom>
          <a:noFill/>
          <a:ln/>
        </p:spPr>
        <p:txBody>
          <a:bodyPr wrap="square" rtlCol="0" anchor="ctr"/>
          <a:lstStyle/>
          <a:p>
            <a:pPr indent="0" marL="0">
              <a:lnSpc>
                <a:spcPct val="125000"/>
              </a:lnSpc>
              <a:buNone/>
            </a:pPr>
            <a:r>
              <a:rPr lang="en-US" sz="1200" dirty="0">
                <a:solidFill>
                  <a:srgbClr val="94A3B8"/>
                </a:solidFill>
                <a:latin typeface="Arial" pitchFamily="34" charset="0"/>
                <a:ea typeface="Arial" pitchFamily="34" charset="-122"/>
                <a:cs typeface="Arial" pitchFamily="34" charset="-120"/>
              </a:rPr>
              <a:t>India’s first production-grade deterministic AI student career companion. Predicts scholarship eligibility with explainable logic, bridges skill gaps with accredited courses, and copilots students from day one to their first job offer.</a:t>
            </a:r>
            <a:endParaRPr lang="en-US" sz="1200" dirty="0"/>
          </a:p>
        </p:txBody>
      </p:sp>
      <p:sp>
        <p:nvSpPr>
          <p:cNvPr id="8" name="Shape 6"/>
          <p:cNvSpPr/>
          <p:nvPr/>
        </p:nvSpPr>
        <p:spPr>
          <a:xfrm>
            <a:off x="731520" y="3611880"/>
            <a:ext cx="4572000" cy="329184"/>
          </a:xfrm>
          <a:prstGeom prst="roundRect">
            <a:avLst>
              <a:gd name="adj" fmla="val 22222"/>
            </a:avLst>
          </a:prstGeom>
          <a:solidFill>
            <a:srgbClr val="151C2C"/>
          </a:solidFill>
          <a:ln w="12700">
            <a:solidFill>
              <a:srgbClr val="243048"/>
            </a:solidFill>
            <a:prstDash val="solid"/>
          </a:ln>
        </p:spPr>
      </p:sp>
      <p:sp>
        <p:nvSpPr>
          <p:cNvPr id="9" name="Text 7"/>
          <p:cNvSpPr/>
          <p:nvPr/>
        </p:nvSpPr>
        <p:spPr>
          <a:xfrm>
            <a:off x="868680" y="3611880"/>
            <a:ext cx="4297680" cy="329184"/>
          </a:xfrm>
          <a:prstGeom prst="rect">
            <a:avLst/>
          </a:prstGeom>
          <a:noFill/>
          <a:ln/>
        </p:spPr>
        <p:txBody>
          <a:bodyPr wrap="square" rtlCol="0" anchor="ctr"/>
          <a:lstStyle/>
          <a:p>
            <a:pPr indent="0" marL="0">
              <a:buNone/>
            </a:pPr>
            <a:r>
              <a:rPr lang="en-US" sz="1050" b="1" dirty="0">
                <a:solidFill>
                  <a:srgbClr val="10B981"/>
                </a:solidFill>
                <a:latin typeface="Arial" pitchFamily="34" charset="0"/>
                <a:ea typeface="Arial" pitchFamily="34" charset="-122"/>
                <a:cs typeface="Arial" pitchFamily="34" charset="-120"/>
              </a:rPr>
              <a:t>✓ 100% Deterministic Rule Engine</a:t>
            </a:r>
            <a:endParaRPr lang="en-US" sz="1050" dirty="0"/>
          </a:p>
        </p:txBody>
      </p:sp>
      <p:sp>
        <p:nvSpPr>
          <p:cNvPr id="10" name="Shape 8"/>
          <p:cNvSpPr/>
          <p:nvPr/>
        </p:nvSpPr>
        <p:spPr>
          <a:xfrm>
            <a:off x="731520" y="4023360"/>
            <a:ext cx="4572000" cy="329184"/>
          </a:xfrm>
          <a:prstGeom prst="roundRect">
            <a:avLst>
              <a:gd name="adj" fmla="val 22222"/>
            </a:avLst>
          </a:prstGeom>
          <a:solidFill>
            <a:srgbClr val="151C2C"/>
          </a:solidFill>
          <a:ln w="12700">
            <a:solidFill>
              <a:srgbClr val="243048"/>
            </a:solidFill>
            <a:prstDash val="solid"/>
          </a:ln>
        </p:spPr>
      </p:sp>
      <p:sp>
        <p:nvSpPr>
          <p:cNvPr id="11" name="Text 9"/>
          <p:cNvSpPr/>
          <p:nvPr/>
        </p:nvSpPr>
        <p:spPr>
          <a:xfrm>
            <a:off x="868680" y="4023360"/>
            <a:ext cx="4297680" cy="329184"/>
          </a:xfrm>
          <a:prstGeom prst="rect">
            <a:avLst/>
          </a:prstGeom>
          <a:noFill/>
          <a:ln/>
        </p:spPr>
        <p:txBody>
          <a:bodyPr wrap="square" rtlCol="0" anchor="ctr"/>
          <a:lstStyle/>
          <a:p>
            <a:pPr indent="0" marL="0">
              <a:buNone/>
            </a:pPr>
            <a:r>
              <a:rPr lang="en-US" sz="1050" b="1" dirty="0">
                <a:solidFill>
                  <a:srgbClr val="FA947E"/>
                </a:solidFill>
                <a:latin typeface="Arial" pitchFamily="34" charset="0"/>
                <a:ea typeface="Arial" pitchFamily="34" charset="-122"/>
                <a:cs typeface="Arial" pitchFamily="34" charset="-120"/>
              </a:rPr>
              <a:t>✓ Live Scrapers: Buddy4Study &amp; Unstop</a:t>
            </a:r>
            <a:endParaRPr lang="en-US" sz="1050" dirty="0"/>
          </a:p>
        </p:txBody>
      </p:sp>
      <p:sp>
        <p:nvSpPr>
          <p:cNvPr id="12" name="Shape 10"/>
          <p:cNvSpPr/>
          <p:nvPr/>
        </p:nvSpPr>
        <p:spPr>
          <a:xfrm>
            <a:off x="731520" y="4434840"/>
            <a:ext cx="4572000" cy="329184"/>
          </a:xfrm>
          <a:prstGeom prst="roundRect">
            <a:avLst>
              <a:gd name="adj" fmla="val 22222"/>
            </a:avLst>
          </a:prstGeom>
          <a:solidFill>
            <a:srgbClr val="151C2C"/>
          </a:solidFill>
          <a:ln w="12700">
            <a:solidFill>
              <a:srgbClr val="243048"/>
            </a:solidFill>
            <a:prstDash val="solid"/>
          </a:ln>
        </p:spPr>
      </p:sp>
      <p:sp>
        <p:nvSpPr>
          <p:cNvPr id="13" name="Text 11"/>
          <p:cNvSpPr/>
          <p:nvPr/>
        </p:nvSpPr>
        <p:spPr>
          <a:xfrm>
            <a:off x="868680" y="4434840"/>
            <a:ext cx="4297680" cy="329184"/>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 OpenRouter AI Copilot (Streaming SSE)</a:t>
            </a:r>
            <a:endParaRPr lang="en-US" sz="1050" dirty="0"/>
          </a:p>
        </p:txBody>
      </p:sp>
      <p:pic>
        <p:nvPicPr>
          <p:cNvPr id="14" name="Image 0" descr="D:\hackathon\backend\assets\images\hero_students.jpg">    </p:cNvPr>
          <p:cNvPicPr>
            <a:picLocks noChangeAspect="1"/>
          </p:cNvPicPr>
          <p:nvPr/>
        </p:nvPicPr>
        <p:blipFill>
          <a:blip r:embed="rId1"/>
          <a:stretch>
            <a:fillRect/>
          </a:stretch>
        </p:blipFill>
        <p:spPr>
          <a:xfrm>
            <a:off x="5577840" y="731520"/>
            <a:ext cx="2926080" cy="3840480"/>
          </a:xfrm>
          <a:prstGeom prst="ellipse">
            <a:avLst/>
          </a:prstGeom>
          <a:effectLst>
            <a:outerShdw sx="100000" sy="100000" kx="0" ky="0" algn="bl" rotWithShape="0" blurRad="76200" dist="38100" dir="16200000">
              <a:srgbClr val="000000">
                <a:alpha val="35000"/>
              </a:srgbClr>
            </a:outerShdw>
          </a:effectLst>
        </p:spPr>
      </p:pic>
      <p:sp>
        <p:nvSpPr>
          <p:cNvPr id="15" name="Shape 12"/>
          <p:cNvSpPr/>
          <p:nvPr/>
        </p:nvSpPr>
        <p:spPr>
          <a:xfrm>
            <a:off x="5715000" y="4114800"/>
            <a:ext cx="2651760" cy="347472"/>
          </a:xfrm>
          <a:prstGeom prst="roundRect">
            <a:avLst>
              <a:gd name="adj" fmla="val 21053"/>
            </a:avLst>
          </a:prstGeom>
          <a:solidFill>
            <a:srgbClr val="000000">
              <a:alpha val="70000"/>
            </a:srgbClr>
          </a:solidFill>
          <a:ln w="12700">
            <a:solidFill>
              <a:srgbClr val="8A1C30"/>
            </a:solidFill>
            <a:prstDash val="solid"/>
          </a:ln>
        </p:spPr>
      </p:sp>
      <p:sp>
        <p:nvSpPr>
          <p:cNvPr id="16" name="Text 13"/>
          <p:cNvSpPr/>
          <p:nvPr/>
        </p:nvSpPr>
        <p:spPr>
          <a:xfrm>
            <a:off x="5760720" y="4114800"/>
            <a:ext cx="2560320" cy="34747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Empowering 40M+ Higher Ed Students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THE CRISIS IN HIGHER EDUCATION</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Students Do Not Lack Ambition. They Lack Clarity.</a:t>
            </a:r>
            <a:endParaRPr lang="en-US" sz="2400" dirty="0"/>
          </a:p>
        </p:txBody>
      </p:sp>
      <p:pic>
        <p:nvPicPr>
          <p:cNvPr id="4" name="Image 0" descr="D:\hackathon\backend\assets\images\problem_confusion.jpg">    </p:cNvPr>
          <p:cNvPicPr>
            <a:picLocks noChangeAspect="1"/>
          </p:cNvPicPr>
          <p:nvPr/>
        </p:nvPicPr>
        <p:blipFill>
          <a:blip r:embed="rId1"/>
          <a:stretch>
            <a:fillRect/>
          </a:stretch>
        </p:blipFill>
        <p:spPr>
          <a:xfrm>
            <a:off x="731520" y="1371600"/>
            <a:ext cx="2560320" cy="3200400"/>
          </a:xfrm>
          <a:prstGeom prst="ellipse">
            <a:avLst/>
          </a:prstGeom>
          <a:effectLst>
            <a:outerShdw sx="100000" sy="100000" kx="0" ky="0" algn="bl" rotWithShape="0" blurRad="967740000" dist="483870000" dir="972000000000">
              <a:srgbClr val="000000">
                <a:alpha val="3500000000"/>
              </a:srgbClr>
            </a:outerShdw>
          </a:effectLst>
        </p:spPr>
      </p:pic>
      <p:sp>
        <p:nvSpPr>
          <p:cNvPr id="5" name="Shape 2"/>
          <p:cNvSpPr/>
          <p:nvPr/>
        </p:nvSpPr>
        <p:spPr>
          <a:xfrm>
            <a:off x="868680" y="4069080"/>
            <a:ext cx="2286000" cy="384048"/>
          </a:xfrm>
          <a:prstGeom prst="roundRect">
            <a:avLst>
              <a:gd name="adj" fmla="val 19048"/>
            </a:avLst>
          </a:prstGeom>
          <a:solidFill>
            <a:srgbClr val="000000">
              <a:alpha val="70000"/>
            </a:srgbClr>
          </a:solidFill>
          <a:ln w="12700">
            <a:solidFill>
              <a:srgbClr val="DC2626"/>
            </a:solidFill>
            <a:prstDash val="solid"/>
          </a:ln>
        </p:spPr>
      </p:sp>
      <p:sp>
        <p:nvSpPr>
          <p:cNvPr id="6" name="Text 3"/>
          <p:cNvSpPr/>
          <p:nvPr/>
        </p:nvSpPr>
        <p:spPr>
          <a:xfrm>
            <a:off x="914400" y="4069080"/>
            <a:ext cx="2194560" cy="384048"/>
          </a:xfrm>
          <a:prstGeom prst="rect">
            <a:avLst/>
          </a:prstGeom>
          <a:noFill/>
          <a:ln/>
        </p:spPr>
        <p:txBody>
          <a:bodyPr wrap="square" rtlCol="0" anchor="ctr"/>
          <a:lstStyle/>
          <a:p>
            <a:pPr algn="ctr" indent="0" marL="0">
              <a:buNone/>
            </a:pPr>
            <a:r>
              <a:rPr lang="en-US" sz="900" b="1" dirty="0">
                <a:solidFill>
                  <a:srgbClr val="FCA5A5"/>
                </a:solidFill>
                <a:latin typeface="Arial" pitchFamily="34" charset="0"/>
                <a:ea typeface="Arial" pitchFamily="34" charset="-122"/>
                <a:cs typeface="Arial" pitchFamily="34" charset="-120"/>
              </a:rPr>
              <a:t>₹2,500+ Cr Funds Lapse Annually</a:t>
            </a:r>
            <a:endParaRPr lang="en-US" sz="900" dirty="0"/>
          </a:p>
        </p:txBody>
      </p:sp>
      <p:sp>
        <p:nvSpPr>
          <p:cNvPr id="7" name="Shape 4"/>
          <p:cNvSpPr/>
          <p:nvPr/>
        </p:nvSpPr>
        <p:spPr>
          <a:xfrm>
            <a:off x="3474720" y="1371600"/>
            <a:ext cx="4937760" cy="987552"/>
          </a:xfrm>
          <a:prstGeom prst="roundRect">
            <a:avLst>
              <a:gd name="adj" fmla="val 9259"/>
            </a:avLst>
          </a:prstGeom>
          <a:solidFill>
            <a:srgbClr val="151C2C"/>
          </a:solidFill>
          <a:ln w="12700">
            <a:solidFill>
              <a:srgbClr val="243048"/>
            </a:solidFill>
            <a:prstDash val="solid"/>
          </a:ln>
          <a:effectLst>
            <a:outerShdw sx="100000" sy="100000" kx="0" ky="0" algn="bl" rotWithShape="0" blurRad="12290298000000" dist="6145149000000" dir="58320000000000000">
              <a:srgbClr val="000000">
                <a:alpha val="350000000000000"/>
              </a:srgbClr>
            </a:outerShdw>
          </a:effectLst>
        </p:spPr>
      </p:sp>
      <p:sp>
        <p:nvSpPr>
          <p:cNvPr id="8" name="Shape 5"/>
          <p:cNvSpPr/>
          <p:nvPr/>
        </p:nvSpPr>
        <p:spPr>
          <a:xfrm>
            <a:off x="3474720" y="1371600"/>
            <a:ext cx="109728" cy="987552"/>
          </a:xfrm>
          <a:prstGeom prst="roundRect">
            <a:avLst>
              <a:gd name="adj" fmla="val 41667"/>
            </a:avLst>
          </a:prstGeom>
          <a:solidFill>
            <a:srgbClr val="EF4444"/>
          </a:solidFill>
          <a:ln w="12700">
            <a:solidFill>
              <a:srgbClr val="000000">
                <a:alpha val="0"/>
              </a:srgbClr>
            </a:solidFill>
            <a:prstDash val="solid"/>
          </a:ln>
        </p:spPr>
      </p:sp>
      <p:sp>
        <p:nvSpPr>
          <p:cNvPr id="9" name="Text 6"/>
          <p:cNvSpPr/>
          <p:nvPr/>
        </p:nvSpPr>
        <p:spPr>
          <a:xfrm>
            <a:off x="3749040" y="1463040"/>
            <a:ext cx="3383280" cy="274320"/>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01. Fragmented &amp; Opaque Schemes</a:t>
            </a:r>
            <a:endParaRPr lang="en-US" sz="1300" dirty="0"/>
          </a:p>
        </p:txBody>
      </p:sp>
      <p:sp>
        <p:nvSpPr>
          <p:cNvPr id="10" name="Shape 7"/>
          <p:cNvSpPr/>
          <p:nvPr/>
        </p:nvSpPr>
        <p:spPr>
          <a:xfrm>
            <a:off x="6949440" y="1463040"/>
            <a:ext cx="1371600" cy="228600"/>
          </a:xfrm>
          <a:prstGeom prst="roundRect">
            <a:avLst>
              <a:gd name="adj" fmla="val 24000"/>
            </a:avLst>
          </a:prstGeom>
          <a:solidFill>
            <a:srgbClr val="4A101D"/>
          </a:solidFill>
          <a:ln w="10160">
            <a:solidFill>
              <a:srgbClr val="74182F"/>
            </a:solidFill>
            <a:prstDash val="solid"/>
          </a:ln>
        </p:spPr>
      </p:sp>
      <p:sp>
        <p:nvSpPr>
          <p:cNvPr id="11" name="Text 8"/>
          <p:cNvSpPr/>
          <p:nvPr/>
        </p:nvSpPr>
        <p:spPr>
          <a:xfrm>
            <a:off x="6949440" y="1463040"/>
            <a:ext cx="1371600" cy="228600"/>
          </a:xfrm>
          <a:prstGeom prst="rect">
            <a:avLst/>
          </a:prstGeom>
          <a:noFill/>
          <a:ln/>
        </p:spPr>
        <p:txBody>
          <a:bodyPr wrap="square" rtlCol="0" anchor="ctr"/>
          <a:lstStyle/>
          <a:p>
            <a:pPr algn="ctr" indent="0" marL="0">
              <a:buNone/>
            </a:pPr>
            <a:r>
              <a:rPr lang="en-US" sz="800" b="1" dirty="0">
                <a:solidFill>
                  <a:srgbClr val="FA947E"/>
                </a:solidFill>
                <a:latin typeface="Arial" pitchFamily="34" charset="0"/>
                <a:ea typeface="Arial" pitchFamily="34" charset="-122"/>
                <a:cs typeface="Arial" pitchFamily="34" charset="-120"/>
              </a:rPr>
              <a:t>Information Asymmetry</a:t>
            </a:r>
            <a:endParaRPr lang="en-US" sz="800" dirty="0"/>
          </a:p>
        </p:txBody>
      </p:sp>
      <p:sp>
        <p:nvSpPr>
          <p:cNvPr id="12" name="Text 9"/>
          <p:cNvSpPr/>
          <p:nvPr/>
        </p:nvSpPr>
        <p:spPr>
          <a:xfrm>
            <a:off x="3749040" y="1755648"/>
            <a:ext cx="4480560" cy="530352"/>
          </a:xfrm>
          <a:prstGeom prst="rect">
            <a:avLst/>
          </a:prstGeom>
          <a:noFill/>
          <a:ln/>
        </p:spPr>
        <p:txBody>
          <a:bodyPr wrap="square" rtlCol="0" anchor="ctr"/>
          <a:lstStyle/>
          <a:p>
            <a:pPr indent="0" marL="0">
              <a:lnSpc>
                <a:spcPct val="115000"/>
              </a:lnSpc>
              <a:buNone/>
            </a:pPr>
            <a:r>
              <a:rPr lang="en-US" sz="950" dirty="0">
                <a:solidFill>
                  <a:srgbClr val="94A3B8"/>
                </a:solidFill>
                <a:latin typeface="Arial" pitchFamily="34" charset="0"/>
                <a:ea typeface="Arial" pitchFamily="34" charset="-122"/>
                <a:cs typeface="Arial" pitchFamily="34" charset="-120"/>
              </a:rPr>
              <a:t>Over 250+ central &amp; state schemes exist in siloed PDFs with complex eligibility formulas. Students get rejected simply because of 1 missing document or income ceiling calculation error.</a:t>
            </a:r>
            <a:endParaRPr lang="en-US" sz="950" dirty="0"/>
          </a:p>
        </p:txBody>
      </p:sp>
      <p:sp>
        <p:nvSpPr>
          <p:cNvPr id="13" name="Shape 10"/>
          <p:cNvSpPr/>
          <p:nvPr/>
        </p:nvSpPr>
        <p:spPr>
          <a:xfrm>
            <a:off x="3474720" y="2450592"/>
            <a:ext cx="4937760" cy="987552"/>
          </a:xfrm>
          <a:prstGeom prst="roundRect">
            <a:avLst>
              <a:gd name="adj" fmla="val 9259"/>
            </a:avLst>
          </a:prstGeom>
          <a:solidFill>
            <a:srgbClr val="151C2C"/>
          </a:solidFill>
          <a:ln w="12700">
            <a:solidFill>
              <a:srgbClr val="243048"/>
            </a:solidFill>
            <a:prstDash val="solid"/>
          </a:ln>
          <a:effectLst>
            <a:outerShdw sx="100000" sy="100000" kx="0" ky="0" algn="bl" rotWithShape="0" blurRad="156086784600000000" dist="78043392300000000" dir="3.4992e+21">
              <a:srgbClr val="000000">
                <a:alpha val="35000000000000000000"/>
              </a:srgbClr>
            </a:outerShdw>
          </a:effectLst>
        </p:spPr>
      </p:sp>
      <p:sp>
        <p:nvSpPr>
          <p:cNvPr id="14" name="Shape 11"/>
          <p:cNvSpPr/>
          <p:nvPr/>
        </p:nvSpPr>
        <p:spPr>
          <a:xfrm>
            <a:off x="3474720" y="2450592"/>
            <a:ext cx="109728" cy="987552"/>
          </a:xfrm>
          <a:prstGeom prst="roundRect">
            <a:avLst>
              <a:gd name="adj" fmla="val 41667"/>
            </a:avLst>
          </a:prstGeom>
          <a:solidFill>
            <a:srgbClr val="FBBF24"/>
          </a:solidFill>
          <a:ln w="12700">
            <a:solidFill>
              <a:srgbClr val="000000">
                <a:alpha val="0"/>
              </a:srgbClr>
            </a:solidFill>
            <a:prstDash val="solid"/>
          </a:ln>
        </p:spPr>
      </p:sp>
      <p:sp>
        <p:nvSpPr>
          <p:cNvPr id="15" name="Text 12"/>
          <p:cNvSpPr/>
          <p:nvPr/>
        </p:nvSpPr>
        <p:spPr>
          <a:xfrm>
            <a:off x="3749040" y="2542032"/>
            <a:ext cx="3383280" cy="274320"/>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02. Superficial Internship Matching</a:t>
            </a:r>
            <a:endParaRPr lang="en-US" sz="1300" dirty="0"/>
          </a:p>
        </p:txBody>
      </p:sp>
      <p:sp>
        <p:nvSpPr>
          <p:cNvPr id="16" name="Shape 13"/>
          <p:cNvSpPr/>
          <p:nvPr/>
        </p:nvSpPr>
        <p:spPr>
          <a:xfrm>
            <a:off x="6949440" y="2542032"/>
            <a:ext cx="1371600" cy="228600"/>
          </a:xfrm>
          <a:prstGeom prst="roundRect">
            <a:avLst>
              <a:gd name="adj" fmla="val 24000"/>
            </a:avLst>
          </a:prstGeom>
          <a:solidFill>
            <a:srgbClr val="4A101D"/>
          </a:solidFill>
          <a:ln w="10160">
            <a:solidFill>
              <a:srgbClr val="74182F"/>
            </a:solidFill>
            <a:prstDash val="solid"/>
          </a:ln>
        </p:spPr>
      </p:sp>
      <p:sp>
        <p:nvSpPr>
          <p:cNvPr id="17" name="Text 14"/>
          <p:cNvSpPr/>
          <p:nvPr/>
        </p:nvSpPr>
        <p:spPr>
          <a:xfrm>
            <a:off x="6949440" y="2542032"/>
            <a:ext cx="1371600" cy="228600"/>
          </a:xfrm>
          <a:prstGeom prst="rect">
            <a:avLst/>
          </a:prstGeom>
          <a:noFill/>
          <a:ln/>
        </p:spPr>
        <p:txBody>
          <a:bodyPr wrap="square" rtlCol="0" anchor="ctr"/>
          <a:lstStyle/>
          <a:p>
            <a:pPr algn="ctr" indent="0" marL="0">
              <a:buNone/>
            </a:pPr>
            <a:r>
              <a:rPr lang="en-US" sz="800" b="1" dirty="0">
                <a:solidFill>
                  <a:srgbClr val="FA947E"/>
                </a:solidFill>
                <a:latin typeface="Arial" pitchFamily="34" charset="0"/>
                <a:ea typeface="Arial" pitchFamily="34" charset="-122"/>
                <a:cs typeface="Arial" pitchFamily="34" charset="-120"/>
              </a:rPr>
              <a:t>Wasted Applications</a:t>
            </a:r>
            <a:endParaRPr lang="en-US" sz="800" dirty="0"/>
          </a:p>
        </p:txBody>
      </p:sp>
      <p:sp>
        <p:nvSpPr>
          <p:cNvPr id="18" name="Text 15"/>
          <p:cNvSpPr/>
          <p:nvPr/>
        </p:nvSpPr>
        <p:spPr>
          <a:xfrm>
            <a:off x="3749040" y="2834640"/>
            <a:ext cx="4480560" cy="530352"/>
          </a:xfrm>
          <a:prstGeom prst="rect">
            <a:avLst/>
          </a:prstGeom>
          <a:noFill/>
          <a:ln/>
        </p:spPr>
        <p:txBody>
          <a:bodyPr wrap="square" rtlCol="0" anchor="ctr"/>
          <a:lstStyle/>
          <a:p>
            <a:pPr indent="0" marL="0">
              <a:lnSpc>
                <a:spcPct val="115000"/>
              </a:lnSpc>
              <a:buNone/>
            </a:pPr>
            <a:r>
              <a:rPr lang="en-US" sz="950" dirty="0">
                <a:solidFill>
                  <a:srgbClr val="94A3B8"/>
                </a:solidFill>
                <a:latin typeface="Arial" pitchFamily="34" charset="0"/>
                <a:ea typeface="Arial" pitchFamily="34" charset="-122"/>
                <a:cs typeface="Arial" pitchFamily="34" charset="-120"/>
              </a:rPr>
              <a:t>Mainstream job boards present vanity match scores without verifying CGPA, backlogs, branch relevance, or distinguishing required vs. preferred technical skills.</a:t>
            </a:r>
            <a:endParaRPr lang="en-US" sz="950" dirty="0"/>
          </a:p>
        </p:txBody>
      </p:sp>
      <p:sp>
        <p:nvSpPr>
          <p:cNvPr id="19" name="Shape 16"/>
          <p:cNvSpPr/>
          <p:nvPr/>
        </p:nvSpPr>
        <p:spPr>
          <a:xfrm>
            <a:off x="3474720" y="3529584"/>
            <a:ext cx="4937760" cy="987552"/>
          </a:xfrm>
          <a:prstGeom prst="roundRect">
            <a:avLst>
              <a:gd name="adj" fmla="val 9259"/>
            </a:avLst>
          </a:prstGeom>
          <a:solidFill>
            <a:srgbClr val="151C2C"/>
          </a:solidFill>
          <a:ln w="12700">
            <a:solidFill>
              <a:srgbClr val="243048"/>
            </a:solidFill>
            <a:prstDash val="solid"/>
          </a:ln>
          <a:effectLst>
            <a:outerShdw sx="100000" sy="100000" kx="0" ky="0" algn="bl" rotWithShape="0" blurRad="1.98230216442e+21" dist="991151082210000000000" dir="2.09952e+26">
              <a:srgbClr val="000000">
                <a:alpha val="3.5e+24"/>
              </a:srgbClr>
            </a:outerShdw>
          </a:effectLst>
        </p:spPr>
      </p:sp>
      <p:sp>
        <p:nvSpPr>
          <p:cNvPr id="20" name="Shape 17"/>
          <p:cNvSpPr/>
          <p:nvPr/>
        </p:nvSpPr>
        <p:spPr>
          <a:xfrm>
            <a:off x="3474720" y="3529584"/>
            <a:ext cx="109728" cy="987552"/>
          </a:xfrm>
          <a:prstGeom prst="roundRect">
            <a:avLst>
              <a:gd name="adj" fmla="val 41667"/>
            </a:avLst>
          </a:prstGeom>
          <a:solidFill>
            <a:srgbClr val="38BDF8"/>
          </a:solidFill>
          <a:ln w="12700">
            <a:solidFill>
              <a:srgbClr val="000000">
                <a:alpha val="0"/>
              </a:srgbClr>
            </a:solidFill>
            <a:prstDash val="solid"/>
          </a:ln>
        </p:spPr>
      </p:sp>
      <p:sp>
        <p:nvSpPr>
          <p:cNvPr id="21" name="Text 18"/>
          <p:cNvSpPr/>
          <p:nvPr/>
        </p:nvSpPr>
        <p:spPr>
          <a:xfrm>
            <a:off x="3749040" y="3621024"/>
            <a:ext cx="3383280" cy="274320"/>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03. Unstructured Skill Gap Delta</a:t>
            </a:r>
            <a:endParaRPr lang="en-US" sz="1300" dirty="0"/>
          </a:p>
        </p:txBody>
      </p:sp>
      <p:sp>
        <p:nvSpPr>
          <p:cNvPr id="22" name="Shape 19"/>
          <p:cNvSpPr/>
          <p:nvPr/>
        </p:nvSpPr>
        <p:spPr>
          <a:xfrm>
            <a:off x="6949440" y="3621024"/>
            <a:ext cx="1371600" cy="228600"/>
          </a:xfrm>
          <a:prstGeom prst="roundRect">
            <a:avLst>
              <a:gd name="adj" fmla="val 24000"/>
            </a:avLst>
          </a:prstGeom>
          <a:solidFill>
            <a:srgbClr val="4A101D"/>
          </a:solidFill>
          <a:ln w="10160">
            <a:solidFill>
              <a:srgbClr val="74182F"/>
            </a:solidFill>
            <a:prstDash val="solid"/>
          </a:ln>
        </p:spPr>
      </p:sp>
      <p:sp>
        <p:nvSpPr>
          <p:cNvPr id="23" name="Text 20"/>
          <p:cNvSpPr/>
          <p:nvPr/>
        </p:nvSpPr>
        <p:spPr>
          <a:xfrm>
            <a:off x="6949440" y="3621024"/>
            <a:ext cx="1371600" cy="228600"/>
          </a:xfrm>
          <a:prstGeom prst="rect">
            <a:avLst/>
          </a:prstGeom>
          <a:noFill/>
          <a:ln/>
        </p:spPr>
        <p:txBody>
          <a:bodyPr wrap="square" rtlCol="0" anchor="ctr"/>
          <a:lstStyle/>
          <a:p>
            <a:pPr algn="ctr" indent="0" marL="0">
              <a:buNone/>
            </a:pPr>
            <a:r>
              <a:rPr lang="en-US" sz="800" b="1" dirty="0">
                <a:solidFill>
                  <a:srgbClr val="FA947E"/>
                </a:solidFill>
                <a:latin typeface="Arial" pitchFamily="34" charset="0"/>
                <a:ea typeface="Arial" pitchFamily="34" charset="-122"/>
                <a:cs typeface="Arial" pitchFamily="34" charset="-120"/>
              </a:rPr>
              <a:t>Curriculum Mismatch</a:t>
            </a:r>
            <a:endParaRPr lang="en-US" sz="800" dirty="0"/>
          </a:p>
        </p:txBody>
      </p:sp>
      <p:sp>
        <p:nvSpPr>
          <p:cNvPr id="24" name="Text 21"/>
          <p:cNvSpPr/>
          <p:nvPr/>
        </p:nvSpPr>
        <p:spPr>
          <a:xfrm>
            <a:off x="3749040" y="3913632"/>
            <a:ext cx="4480560" cy="530352"/>
          </a:xfrm>
          <a:prstGeom prst="rect">
            <a:avLst/>
          </a:prstGeom>
          <a:noFill/>
          <a:ln/>
        </p:spPr>
        <p:txBody>
          <a:bodyPr wrap="square" rtlCol="0" anchor="ctr"/>
          <a:lstStyle/>
          <a:p>
            <a:pPr indent="0" marL="0">
              <a:lnSpc>
                <a:spcPct val="115000"/>
              </a:lnSpc>
              <a:buNone/>
            </a:pPr>
            <a:r>
              <a:rPr lang="en-US" sz="950" dirty="0">
                <a:solidFill>
                  <a:srgbClr val="94A3B8"/>
                </a:solidFill>
                <a:latin typeface="Arial" pitchFamily="34" charset="0"/>
                <a:ea typeface="Arial" pitchFamily="34" charset="-122"/>
                <a:cs typeface="Arial" pitchFamily="34" charset="-120"/>
              </a:rPr>
              <a:t>Students know what role they aspire to (e.g. AI/ML, Data Analyst), but have no actionable, accredited learning roadmap tailored to their daily time, budget, and language.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THE SAARATHI SOLUTION</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One Unified Ecosystem: 4 Integrated Pillars</a:t>
            </a:r>
            <a:endParaRPr lang="en-US" sz="2400" dirty="0"/>
          </a:p>
        </p:txBody>
      </p:sp>
      <p:sp>
        <p:nvSpPr>
          <p:cNvPr id="4" name="Shape 2"/>
          <p:cNvSpPr/>
          <p:nvPr/>
        </p:nvSpPr>
        <p:spPr>
          <a:xfrm>
            <a:off x="731520" y="1371600"/>
            <a:ext cx="1874520" cy="3200400"/>
          </a:xfrm>
          <a:prstGeom prst="roundRect">
            <a:avLst>
              <a:gd name="adj" fmla="val 5854"/>
            </a:avLst>
          </a:prstGeom>
          <a:solidFill>
            <a:srgbClr val="151C2C"/>
          </a:solidFill>
          <a:ln w="12700">
            <a:solidFill>
              <a:srgbClr val="243048"/>
            </a:solidFill>
            <a:prstDash val="solid"/>
          </a:ln>
          <a:effectLst>
            <a:outerShdw sx="100000" sy="100000" kx="0" ky="0" algn="bl" rotWithShape="0" blurRad="2.5175237488134e+25" dist="1.2587618744067e+25" dir="1.259712e+31">
              <a:srgbClr val="000000">
                <a:alpha val="3.5000000000000005e+29"/>
              </a:srgbClr>
            </a:outerShdw>
          </a:effectLst>
        </p:spPr>
      </p:sp>
      <p:sp>
        <p:nvSpPr>
          <p:cNvPr id="5" name="Shape 3"/>
          <p:cNvSpPr/>
          <p:nvPr/>
        </p:nvSpPr>
        <p:spPr>
          <a:xfrm>
            <a:off x="731520" y="1371600"/>
            <a:ext cx="1874520" cy="91440"/>
          </a:xfrm>
          <a:prstGeom prst="roundRect">
            <a:avLst>
              <a:gd name="adj" fmla="val 50000"/>
            </a:avLst>
          </a:prstGeom>
          <a:solidFill>
            <a:srgbClr val="10B981"/>
          </a:solidFill>
          <a:ln w="12700">
            <a:solidFill>
              <a:srgbClr val="000000">
                <a:alpha val="0"/>
              </a:srgbClr>
            </a:solidFill>
            <a:prstDash val="solid"/>
          </a:ln>
        </p:spPr>
      </p:sp>
      <p:sp>
        <p:nvSpPr>
          <p:cNvPr id="6" name="Shape 4"/>
          <p:cNvSpPr/>
          <p:nvPr/>
        </p:nvSpPr>
        <p:spPr>
          <a:xfrm>
            <a:off x="914400" y="1600200"/>
            <a:ext cx="1508760" cy="256032"/>
          </a:xfrm>
          <a:prstGeom prst="roundRect">
            <a:avLst>
              <a:gd name="adj" fmla="val 21429"/>
            </a:avLst>
          </a:prstGeom>
          <a:solidFill>
            <a:srgbClr val="4A101D"/>
          </a:solidFill>
          <a:ln w="10160">
            <a:solidFill>
              <a:srgbClr val="74182F"/>
            </a:solidFill>
            <a:prstDash val="solid"/>
          </a:ln>
        </p:spPr>
      </p:sp>
      <p:sp>
        <p:nvSpPr>
          <p:cNvPr id="7" name="Text 5"/>
          <p:cNvSpPr/>
          <p:nvPr/>
        </p:nvSpPr>
        <p:spPr>
          <a:xfrm>
            <a:off x="914400" y="1600200"/>
            <a:ext cx="1508760" cy="256032"/>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Zero Hallucination</a:t>
            </a:r>
            <a:endParaRPr lang="en-US" sz="850" dirty="0"/>
          </a:p>
        </p:txBody>
      </p:sp>
      <p:sp>
        <p:nvSpPr>
          <p:cNvPr id="8" name="Text 6"/>
          <p:cNvSpPr/>
          <p:nvPr/>
        </p:nvSpPr>
        <p:spPr>
          <a:xfrm>
            <a:off x="868680" y="1965960"/>
            <a:ext cx="1600200" cy="502920"/>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Deterministic Eligibility</a:t>
            </a:r>
            <a:endParaRPr lang="en-US" sz="1300" dirty="0"/>
          </a:p>
        </p:txBody>
      </p:sp>
      <p:sp>
        <p:nvSpPr>
          <p:cNvPr id="9" name="Text 7"/>
          <p:cNvSpPr/>
          <p:nvPr/>
        </p:nvSpPr>
        <p:spPr>
          <a:xfrm>
            <a:off x="868680" y="2468880"/>
            <a:ext cx="1600200" cy="320040"/>
          </a:xfrm>
          <a:prstGeom prst="rect">
            <a:avLst/>
          </a:prstGeom>
          <a:noFill/>
          <a:ln/>
        </p:spPr>
        <p:txBody>
          <a:bodyPr wrap="square" rtlCol="0" anchor="ctr"/>
          <a:lstStyle/>
          <a:p>
            <a:pPr algn="ctr" indent="0" marL="0">
              <a:buNone/>
            </a:pPr>
            <a:r>
              <a:rPr lang="en-US" sz="850" b="1" dirty="0">
                <a:solidFill>
                  <a:srgbClr val="FA947E"/>
                </a:solidFill>
                <a:latin typeface="Arial" pitchFamily="34" charset="0"/>
                <a:ea typeface="Arial" pitchFamily="34" charset="-122"/>
                <a:cs typeface="Arial" pitchFamily="34" charset="-120"/>
              </a:rPr>
              <a:t>Mathematical Rule Engine</a:t>
            </a:r>
            <a:endParaRPr lang="en-US" sz="850" dirty="0"/>
          </a:p>
        </p:txBody>
      </p:sp>
      <p:sp>
        <p:nvSpPr>
          <p:cNvPr id="10" name="Text 8"/>
          <p:cNvSpPr/>
          <p:nvPr/>
        </p:nvSpPr>
        <p:spPr>
          <a:xfrm>
            <a:off x="868680" y="2834640"/>
            <a:ext cx="1600200" cy="1600200"/>
          </a:xfrm>
          <a:prstGeom prst="rect">
            <a:avLst/>
          </a:prstGeom>
          <a:noFill/>
          <a:ln/>
        </p:spPr>
        <p:txBody>
          <a:bodyPr wrap="square" rtlCol="0" anchor="ctr"/>
          <a:lstStyle/>
          <a:p>
            <a:pPr algn="l" indent="0" marL="0">
              <a:lnSpc>
                <a:spcPct val="115000"/>
              </a:lnSpc>
              <a:buNone/>
            </a:pPr>
            <a:r>
              <a:rPr lang="en-US" sz="950" dirty="0">
                <a:solidFill>
                  <a:srgbClr val="94A3B8"/>
                </a:solidFill>
                <a:latin typeface="Arial" pitchFamily="34" charset="0"/>
                <a:ea typeface="Arial" pitchFamily="34" charset="-122"/>
                <a:cs typeface="Arial" pitchFamily="34" charset="-120"/>
              </a:rPr>
              <a:t>Weighted multi-factor scoring (Academics 25%, Income 25%, Education 25%, Category 15%, State 10%). Strict gatekeeping blocks false guarantees.</a:t>
            </a:r>
            <a:endParaRPr lang="en-US" sz="950" dirty="0"/>
          </a:p>
        </p:txBody>
      </p:sp>
      <p:sp>
        <p:nvSpPr>
          <p:cNvPr id="11" name="Shape 9"/>
          <p:cNvSpPr/>
          <p:nvPr/>
        </p:nvSpPr>
        <p:spPr>
          <a:xfrm>
            <a:off x="2697480" y="1371600"/>
            <a:ext cx="1874520" cy="3200400"/>
          </a:xfrm>
          <a:prstGeom prst="roundRect">
            <a:avLst>
              <a:gd name="adj" fmla="val 5854"/>
            </a:avLst>
          </a:prstGeom>
          <a:solidFill>
            <a:srgbClr val="151C2C"/>
          </a:solidFill>
          <a:ln w="12700">
            <a:solidFill>
              <a:srgbClr val="243048"/>
            </a:solidFill>
            <a:prstDash val="solid"/>
          </a:ln>
          <a:effectLst>
            <a:outerShdw sx="100000" sy="100000" kx="0" ky="0" algn="bl" rotWithShape="0" blurRad="3.197255160993018e+29" dist="1.598627580496509e+29" dir="7.558272e+35">
              <a:srgbClr val="000000">
                <a:alpha val="3.5000000000000004e+34"/>
              </a:srgbClr>
            </a:outerShdw>
          </a:effectLst>
        </p:spPr>
      </p:sp>
      <p:sp>
        <p:nvSpPr>
          <p:cNvPr id="12" name="Shape 10"/>
          <p:cNvSpPr/>
          <p:nvPr/>
        </p:nvSpPr>
        <p:spPr>
          <a:xfrm>
            <a:off x="2697480" y="1371600"/>
            <a:ext cx="1874520" cy="91440"/>
          </a:xfrm>
          <a:prstGeom prst="roundRect">
            <a:avLst>
              <a:gd name="adj" fmla="val 50000"/>
            </a:avLst>
          </a:prstGeom>
          <a:solidFill>
            <a:srgbClr val="FA947E"/>
          </a:solidFill>
          <a:ln w="12700">
            <a:solidFill>
              <a:srgbClr val="000000">
                <a:alpha val="0"/>
              </a:srgbClr>
            </a:solidFill>
            <a:prstDash val="solid"/>
          </a:ln>
        </p:spPr>
      </p:sp>
      <p:sp>
        <p:nvSpPr>
          <p:cNvPr id="13" name="Shape 11"/>
          <p:cNvSpPr/>
          <p:nvPr/>
        </p:nvSpPr>
        <p:spPr>
          <a:xfrm>
            <a:off x="2880360" y="1600200"/>
            <a:ext cx="1508760" cy="256032"/>
          </a:xfrm>
          <a:prstGeom prst="roundRect">
            <a:avLst>
              <a:gd name="adj" fmla="val 21429"/>
            </a:avLst>
          </a:prstGeom>
          <a:solidFill>
            <a:srgbClr val="4A101D"/>
          </a:solidFill>
          <a:ln w="10160">
            <a:solidFill>
              <a:srgbClr val="74182F"/>
            </a:solidFill>
            <a:prstDash val="solid"/>
          </a:ln>
        </p:spPr>
      </p:sp>
      <p:sp>
        <p:nvSpPr>
          <p:cNvPr id="14" name="Text 12"/>
          <p:cNvSpPr/>
          <p:nvPr/>
        </p:nvSpPr>
        <p:spPr>
          <a:xfrm>
            <a:off x="2880360" y="1600200"/>
            <a:ext cx="1508760" cy="256032"/>
          </a:xfrm>
          <a:prstGeom prst="rect">
            <a:avLst/>
          </a:prstGeom>
          <a:noFill/>
          <a:ln/>
        </p:spPr>
        <p:txBody>
          <a:bodyPr wrap="square" rtlCol="0" anchor="ctr"/>
          <a:lstStyle/>
          <a:p>
            <a:pPr algn="ctr" indent="0" marL="0">
              <a:buNone/>
            </a:pPr>
            <a:r>
              <a:rPr lang="en-US" sz="850" b="1" dirty="0">
                <a:solidFill>
                  <a:srgbClr val="FA947E"/>
                </a:solidFill>
                <a:latin typeface="Arial" pitchFamily="34" charset="0"/>
                <a:ea typeface="Arial" pitchFamily="34" charset="-122"/>
                <a:cs typeface="Arial" pitchFamily="34" charset="-120"/>
              </a:rPr>
              <a:t>Live Data</a:t>
            </a:r>
            <a:endParaRPr lang="en-US" sz="850" dirty="0"/>
          </a:p>
        </p:txBody>
      </p:sp>
      <p:sp>
        <p:nvSpPr>
          <p:cNvPr id="15" name="Text 13"/>
          <p:cNvSpPr/>
          <p:nvPr/>
        </p:nvSpPr>
        <p:spPr>
          <a:xfrm>
            <a:off x="2834640" y="1965960"/>
            <a:ext cx="1600200" cy="502920"/>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Live Ingestion Radar</a:t>
            </a:r>
            <a:endParaRPr lang="en-US" sz="1300" dirty="0"/>
          </a:p>
        </p:txBody>
      </p:sp>
      <p:sp>
        <p:nvSpPr>
          <p:cNvPr id="16" name="Text 14"/>
          <p:cNvSpPr/>
          <p:nvPr/>
        </p:nvSpPr>
        <p:spPr>
          <a:xfrm>
            <a:off x="2834640" y="2468880"/>
            <a:ext cx="1600200" cy="320040"/>
          </a:xfrm>
          <a:prstGeom prst="rect">
            <a:avLst/>
          </a:prstGeom>
          <a:noFill/>
          <a:ln/>
        </p:spPr>
        <p:txBody>
          <a:bodyPr wrap="square" rtlCol="0" anchor="ctr"/>
          <a:lstStyle/>
          <a:p>
            <a:pPr algn="ctr" indent="0" marL="0">
              <a:buNone/>
            </a:pPr>
            <a:r>
              <a:rPr lang="en-US" sz="850" b="1" dirty="0">
                <a:solidFill>
                  <a:srgbClr val="FA947E"/>
                </a:solidFill>
                <a:latin typeface="Arial" pitchFamily="34" charset="0"/>
                <a:ea typeface="Arial" pitchFamily="34" charset="-122"/>
                <a:cs typeface="Arial" pitchFamily="34" charset="-120"/>
              </a:rPr>
              <a:t>Automated Web Scraping</a:t>
            </a:r>
            <a:endParaRPr lang="en-US" sz="850" dirty="0"/>
          </a:p>
        </p:txBody>
      </p:sp>
      <p:sp>
        <p:nvSpPr>
          <p:cNvPr id="17" name="Text 15"/>
          <p:cNvSpPr/>
          <p:nvPr/>
        </p:nvSpPr>
        <p:spPr>
          <a:xfrm>
            <a:off x="2834640" y="2834640"/>
            <a:ext cx="1600200" cy="1600200"/>
          </a:xfrm>
          <a:prstGeom prst="rect">
            <a:avLst/>
          </a:prstGeom>
          <a:noFill/>
          <a:ln/>
        </p:spPr>
        <p:txBody>
          <a:bodyPr wrap="square" rtlCol="0" anchor="ctr"/>
          <a:lstStyle/>
          <a:p>
            <a:pPr algn="l" indent="0" marL="0">
              <a:lnSpc>
                <a:spcPct val="115000"/>
              </a:lnSpc>
              <a:buNone/>
            </a:pPr>
            <a:r>
              <a:rPr lang="en-US" sz="950" dirty="0">
                <a:solidFill>
                  <a:srgbClr val="94A3B8"/>
                </a:solidFill>
                <a:latin typeface="Arial" pitchFamily="34" charset="0"/>
                <a:ea typeface="Arial" pitchFamily="34" charset="-122"/>
                <a:cs typeface="Arial" pitchFamily="34" charset="-120"/>
              </a:rPr>
              <a:t>Subagents scrape &amp; normalize live feeds from Buddy4Study, Unstop, AICTE, and NSP. Provenance timestamps and stale-link detection.</a:t>
            </a:r>
            <a:endParaRPr lang="en-US" sz="950" dirty="0"/>
          </a:p>
        </p:txBody>
      </p:sp>
      <p:sp>
        <p:nvSpPr>
          <p:cNvPr id="18" name="Shape 16"/>
          <p:cNvSpPr/>
          <p:nvPr/>
        </p:nvSpPr>
        <p:spPr>
          <a:xfrm>
            <a:off x="4663440" y="1371600"/>
            <a:ext cx="1874520" cy="3200400"/>
          </a:xfrm>
          <a:prstGeom prst="roundRect">
            <a:avLst>
              <a:gd name="adj" fmla="val 5854"/>
            </a:avLst>
          </a:prstGeom>
          <a:solidFill>
            <a:srgbClr val="151C2C"/>
          </a:solidFill>
          <a:ln w="12700">
            <a:solidFill>
              <a:srgbClr val="243048"/>
            </a:solidFill>
            <a:prstDash val="solid"/>
          </a:ln>
          <a:effectLst>
            <a:outerShdw sx="100000" sy="100000" kx="0" ky="0" algn="bl" rotWithShape="0" blurRad="4.0605140544611325e+33" dist="2.0302570272305663e+33" dir="4.5349632e+40">
              <a:srgbClr val="000000">
                <a:alpha val="3.5e+39"/>
              </a:srgbClr>
            </a:outerShdw>
          </a:effectLst>
        </p:spPr>
      </p:sp>
      <p:sp>
        <p:nvSpPr>
          <p:cNvPr id="19" name="Shape 17"/>
          <p:cNvSpPr/>
          <p:nvPr/>
        </p:nvSpPr>
        <p:spPr>
          <a:xfrm>
            <a:off x="4663440" y="1371600"/>
            <a:ext cx="1874520" cy="91440"/>
          </a:xfrm>
          <a:prstGeom prst="roundRect">
            <a:avLst>
              <a:gd name="adj" fmla="val 50000"/>
            </a:avLst>
          </a:prstGeom>
          <a:solidFill>
            <a:srgbClr val="38BDF8"/>
          </a:solidFill>
          <a:ln w="12700">
            <a:solidFill>
              <a:srgbClr val="000000">
                <a:alpha val="0"/>
              </a:srgbClr>
            </a:solidFill>
            <a:prstDash val="solid"/>
          </a:ln>
        </p:spPr>
      </p:sp>
      <p:sp>
        <p:nvSpPr>
          <p:cNvPr id="20" name="Shape 18"/>
          <p:cNvSpPr/>
          <p:nvPr/>
        </p:nvSpPr>
        <p:spPr>
          <a:xfrm>
            <a:off x="4846320" y="1600200"/>
            <a:ext cx="1508760" cy="256032"/>
          </a:xfrm>
          <a:prstGeom prst="roundRect">
            <a:avLst>
              <a:gd name="adj" fmla="val 21429"/>
            </a:avLst>
          </a:prstGeom>
          <a:solidFill>
            <a:srgbClr val="4A101D"/>
          </a:solidFill>
          <a:ln w="10160">
            <a:solidFill>
              <a:srgbClr val="74182F"/>
            </a:solidFill>
            <a:prstDash val="solid"/>
          </a:ln>
        </p:spPr>
      </p:sp>
      <p:sp>
        <p:nvSpPr>
          <p:cNvPr id="21" name="Text 19"/>
          <p:cNvSpPr/>
          <p:nvPr/>
        </p:nvSpPr>
        <p:spPr>
          <a:xfrm>
            <a:off x="4846320" y="1600200"/>
            <a:ext cx="150876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Curated Paths</a:t>
            </a:r>
            <a:endParaRPr lang="en-US" sz="850" dirty="0"/>
          </a:p>
        </p:txBody>
      </p:sp>
      <p:sp>
        <p:nvSpPr>
          <p:cNvPr id="22" name="Text 20"/>
          <p:cNvSpPr/>
          <p:nvPr/>
        </p:nvSpPr>
        <p:spPr>
          <a:xfrm>
            <a:off x="4800600" y="1965960"/>
            <a:ext cx="1600200" cy="502920"/>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Skill-Gap &amp; Courses</a:t>
            </a:r>
            <a:endParaRPr lang="en-US" sz="1300" dirty="0"/>
          </a:p>
        </p:txBody>
      </p:sp>
      <p:sp>
        <p:nvSpPr>
          <p:cNvPr id="23" name="Text 21"/>
          <p:cNvSpPr/>
          <p:nvPr/>
        </p:nvSpPr>
        <p:spPr>
          <a:xfrm>
            <a:off x="4800600" y="2468880"/>
            <a:ext cx="1600200" cy="320040"/>
          </a:xfrm>
          <a:prstGeom prst="rect">
            <a:avLst/>
          </a:prstGeom>
          <a:noFill/>
          <a:ln/>
        </p:spPr>
        <p:txBody>
          <a:bodyPr wrap="square" rtlCol="0" anchor="ctr"/>
          <a:lstStyle/>
          <a:p>
            <a:pPr algn="ctr" indent="0" marL="0">
              <a:buNone/>
            </a:pPr>
            <a:r>
              <a:rPr lang="en-US" sz="850" b="1" dirty="0">
                <a:solidFill>
                  <a:srgbClr val="FA947E"/>
                </a:solidFill>
                <a:latin typeface="Arial" pitchFamily="34" charset="0"/>
                <a:ea typeface="Arial" pitchFamily="34" charset="-122"/>
                <a:cs typeface="Arial" pitchFamily="34" charset="-120"/>
              </a:rPr>
              <a:t>NPTEL, SWAYAM &amp; FreeCodeCamp</a:t>
            </a:r>
            <a:endParaRPr lang="en-US" sz="850" dirty="0"/>
          </a:p>
        </p:txBody>
      </p:sp>
      <p:sp>
        <p:nvSpPr>
          <p:cNvPr id="24" name="Text 22"/>
          <p:cNvSpPr/>
          <p:nvPr/>
        </p:nvSpPr>
        <p:spPr>
          <a:xfrm>
            <a:off x="4800600" y="2834640"/>
            <a:ext cx="1600200" cy="1600200"/>
          </a:xfrm>
          <a:prstGeom prst="rect">
            <a:avLst/>
          </a:prstGeom>
          <a:noFill/>
          <a:ln/>
        </p:spPr>
        <p:txBody>
          <a:bodyPr wrap="square" rtlCol="0" anchor="ctr"/>
          <a:lstStyle/>
          <a:p>
            <a:pPr algn="l" indent="0" marL="0">
              <a:lnSpc>
                <a:spcPct val="115000"/>
              </a:lnSpc>
              <a:buNone/>
            </a:pPr>
            <a:r>
              <a:rPr lang="en-US" sz="950" dirty="0">
                <a:solidFill>
                  <a:srgbClr val="94A3B8"/>
                </a:solidFill>
                <a:latin typeface="Arial" pitchFamily="34" charset="0"/>
                <a:ea typeface="Arial" pitchFamily="34" charset="-122"/>
                <a:cs typeface="Arial" pitchFamily="34" charset="-120"/>
              </a:rPr>
              <a:t>Analyzes target role requirements vs. student profile. Maps precise missing skills into sequenced free accredited courses in Telugu &amp; English.</a:t>
            </a:r>
            <a:endParaRPr lang="en-US" sz="950" dirty="0"/>
          </a:p>
        </p:txBody>
      </p:sp>
      <p:sp>
        <p:nvSpPr>
          <p:cNvPr id="25" name="Shape 23"/>
          <p:cNvSpPr/>
          <p:nvPr/>
        </p:nvSpPr>
        <p:spPr>
          <a:xfrm>
            <a:off x="6629400" y="1371600"/>
            <a:ext cx="1874520" cy="3200400"/>
          </a:xfrm>
          <a:prstGeom prst="roundRect">
            <a:avLst>
              <a:gd name="adj" fmla="val 5854"/>
            </a:avLst>
          </a:prstGeom>
          <a:solidFill>
            <a:srgbClr val="151C2C"/>
          </a:solidFill>
          <a:ln w="12700">
            <a:solidFill>
              <a:srgbClr val="243048"/>
            </a:solidFill>
            <a:prstDash val="solid"/>
          </a:ln>
          <a:effectLst>
            <a:outerShdw sx="100000" sy="100000" kx="0" ky="0" algn="bl" rotWithShape="0" blurRad="5.156852849165638e+37" dist="2.578426424582819e+37" dir="2.72097792e+45">
              <a:srgbClr val="000000">
                <a:alpha val="3.5000000000000003e+44"/>
              </a:srgbClr>
            </a:outerShdw>
          </a:effectLst>
        </p:spPr>
      </p:sp>
      <p:sp>
        <p:nvSpPr>
          <p:cNvPr id="26" name="Shape 24"/>
          <p:cNvSpPr/>
          <p:nvPr/>
        </p:nvSpPr>
        <p:spPr>
          <a:xfrm>
            <a:off x="6629400" y="1371600"/>
            <a:ext cx="1874520" cy="91440"/>
          </a:xfrm>
          <a:prstGeom prst="roundRect">
            <a:avLst>
              <a:gd name="adj" fmla="val 50000"/>
            </a:avLst>
          </a:prstGeom>
          <a:solidFill>
            <a:srgbClr val="A855F7"/>
          </a:solidFill>
          <a:ln w="12700">
            <a:solidFill>
              <a:srgbClr val="000000">
                <a:alpha val="0"/>
              </a:srgbClr>
            </a:solidFill>
            <a:prstDash val="solid"/>
          </a:ln>
        </p:spPr>
      </p:sp>
      <p:sp>
        <p:nvSpPr>
          <p:cNvPr id="27" name="Shape 25"/>
          <p:cNvSpPr/>
          <p:nvPr/>
        </p:nvSpPr>
        <p:spPr>
          <a:xfrm>
            <a:off x="6812280" y="1600200"/>
            <a:ext cx="1508760" cy="256032"/>
          </a:xfrm>
          <a:prstGeom prst="roundRect">
            <a:avLst>
              <a:gd name="adj" fmla="val 21429"/>
            </a:avLst>
          </a:prstGeom>
          <a:solidFill>
            <a:srgbClr val="4A101D"/>
          </a:solidFill>
          <a:ln w="10160">
            <a:solidFill>
              <a:srgbClr val="74182F"/>
            </a:solidFill>
            <a:prstDash val="solid"/>
          </a:ln>
        </p:spPr>
      </p:sp>
      <p:sp>
        <p:nvSpPr>
          <p:cNvPr id="28" name="Text 26"/>
          <p:cNvSpPr/>
          <p:nvPr/>
        </p:nvSpPr>
        <p:spPr>
          <a:xfrm>
            <a:off x="6812280" y="1600200"/>
            <a:ext cx="1508760" cy="256032"/>
          </a:xfrm>
          <a:prstGeom prst="rect">
            <a:avLst/>
          </a:prstGeom>
          <a:noFill/>
          <a:ln/>
        </p:spPr>
        <p:txBody>
          <a:bodyPr wrap="square" rtlCol="0" anchor="ctr"/>
          <a:lstStyle/>
          <a:p>
            <a:pPr algn="ctr" indent="0" marL="0">
              <a:buNone/>
            </a:pPr>
            <a:r>
              <a:rPr lang="en-US" sz="850" b="1" dirty="0">
                <a:solidFill>
                  <a:srgbClr val="A855F7"/>
                </a:solidFill>
                <a:latin typeface="Arial" pitchFamily="34" charset="0"/>
                <a:ea typeface="Arial" pitchFamily="34" charset="-122"/>
                <a:cs typeface="Arial" pitchFamily="34" charset="-120"/>
              </a:rPr>
              <a:t>Resilient AI</a:t>
            </a:r>
            <a:endParaRPr lang="en-US" sz="850" dirty="0"/>
          </a:p>
        </p:txBody>
      </p:sp>
      <p:sp>
        <p:nvSpPr>
          <p:cNvPr id="29" name="Text 27"/>
          <p:cNvSpPr/>
          <p:nvPr/>
        </p:nvSpPr>
        <p:spPr>
          <a:xfrm>
            <a:off x="6766560" y="1965960"/>
            <a:ext cx="1600200" cy="502920"/>
          </a:xfrm>
          <a:prstGeom prst="rect">
            <a:avLst/>
          </a:prstGeom>
          <a:noFill/>
          <a:ln/>
        </p:spPr>
        <p:txBody>
          <a:bodyPr wrap="square" rtlCol="0" anchor="ctr"/>
          <a:lstStyle/>
          <a:p>
            <a:pPr algn="ctr" indent="0" marL="0">
              <a:buNone/>
            </a:pPr>
            <a:r>
              <a:rPr lang="en-US" sz="1300" b="1" dirty="0">
                <a:solidFill>
                  <a:srgbClr val="FFFFFF"/>
                </a:solidFill>
                <a:latin typeface="Trebuchet MS" pitchFamily="34" charset="0"/>
                <a:ea typeface="Trebuchet MS" pitchFamily="34" charset="-122"/>
                <a:cs typeface="Trebuchet MS" pitchFamily="34" charset="-120"/>
              </a:rPr>
              <a:t>OpenRouter AI Copilot</a:t>
            </a:r>
            <a:endParaRPr lang="en-US" sz="1300" dirty="0"/>
          </a:p>
        </p:txBody>
      </p:sp>
      <p:sp>
        <p:nvSpPr>
          <p:cNvPr id="30" name="Text 28"/>
          <p:cNvSpPr/>
          <p:nvPr/>
        </p:nvSpPr>
        <p:spPr>
          <a:xfrm>
            <a:off x="6766560" y="2468880"/>
            <a:ext cx="1600200" cy="320040"/>
          </a:xfrm>
          <a:prstGeom prst="rect">
            <a:avLst/>
          </a:prstGeom>
          <a:noFill/>
          <a:ln/>
        </p:spPr>
        <p:txBody>
          <a:bodyPr wrap="square" rtlCol="0" anchor="ctr"/>
          <a:lstStyle/>
          <a:p>
            <a:pPr algn="ctr" indent="0" marL="0">
              <a:buNone/>
            </a:pPr>
            <a:r>
              <a:rPr lang="en-US" sz="850" b="1" dirty="0">
                <a:solidFill>
                  <a:srgbClr val="FA947E"/>
                </a:solidFill>
                <a:latin typeface="Arial" pitchFamily="34" charset="0"/>
                <a:ea typeface="Arial" pitchFamily="34" charset="-122"/>
                <a:cs typeface="Arial" pitchFamily="34" charset="-120"/>
              </a:rPr>
              <a:t>Streaming Assistant &amp; Tutor</a:t>
            </a:r>
            <a:endParaRPr lang="en-US" sz="850" dirty="0"/>
          </a:p>
        </p:txBody>
      </p:sp>
      <p:sp>
        <p:nvSpPr>
          <p:cNvPr id="31" name="Text 29"/>
          <p:cNvSpPr/>
          <p:nvPr/>
        </p:nvSpPr>
        <p:spPr>
          <a:xfrm>
            <a:off x="6766560" y="2834640"/>
            <a:ext cx="1600200" cy="1600200"/>
          </a:xfrm>
          <a:prstGeom prst="rect">
            <a:avLst/>
          </a:prstGeom>
          <a:noFill/>
          <a:ln/>
        </p:spPr>
        <p:txBody>
          <a:bodyPr wrap="square" rtlCol="0" anchor="ctr"/>
          <a:lstStyle/>
          <a:p>
            <a:pPr algn="l" indent="0" marL="0">
              <a:lnSpc>
                <a:spcPct val="115000"/>
              </a:lnSpc>
              <a:buNone/>
            </a:pPr>
            <a:r>
              <a:rPr lang="en-US" sz="950" dirty="0">
                <a:solidFill>
                  <a:srgbClr val="94A3B8"/>
                </a:solidFill>
                <a:latin typeface="Arial" pitchFamily="34" charset="0"/>
                <a:ea typeface="Arial" pitchFamily="34" charset="-122"/>
                <a:cs typeface="Arial" pitchFamily="34" charset="-120"/>
              </a:rPr>
              <a:t>Fast streaming explanations, ATS resume heuristic review, and 7/30/90-day action plans. Features 100% offline deterministic demo mode.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CORE ALGORITHMIC RIGOR</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Deterministic Scoring: Why AI Never Evaluates Eligibility</a:t>
            </a:r>
            <a:endParaRPr lang="en-US" sz="2400" dirty="0"/>
          </a:p>
        </p:txBody>
      </p:sp>
      <p:sp>
        <p:nvSpPr>
          <p:cNvPr id="4" name="Shape 2"/>
          <p:cNvSpPr/>
          <p:nvPr/>
        </p:nvSpPr>
        <p:spPr>
          <a:xfrm>
            <a:off x="731520" y="1371600"/>
            <a:ext cx="4389120" cy="3200400"/>
          </a:xfrm>
          <a:prstGeom prst="roundRect">
            <a:avLst>
              <a:gd name="adj" fmla="val 3429"/>
            </a:avLst>
          </a:prstGeom>
          <a:solidFill>
            <a:srgbClr val="151C2C"/>
          </a:solidFill>
          <a:ln w="12700">
            <a:solidFill>
              <a:srgbClr val="243048"/>
            </a:solidFill>
            <a:prstDash val="solid"/>
          </a:ln>
          <a:effectLst>
            <a:outerShdw sx="100000" sy="100000" kx="0" ky="0" algn="bl" rotWithShape="0" blurRad="6.549203118440361e+41" dist="3.2746015592201804e+41" dir="1.632586752e+50">
              <a:srgbClr val="000000">
                <a:alpha val="3.5000000000000003e+49"/>
              </a:srgbClr>
            </a:outerShdw>
          </a:effectLst>
        </p:spPr>
      </p:sp>
      <p:sp>
        <p:nvSpPr>
          <p:cNvPr id="5" name="Text 3"/>
          <p:cNvSpPr/>
          <p:nvPr/>
        </p:nvSpPr>
        <p:spPr>
          <a:xfrm>
            <a:off x="914400" y="1554480"/>
            <a:ext cx="4023360" cy="320040"/>
          </a:xfrm>
          <a:prstGeom prst="rect">
            <a:avLst/>
          </a:prstGeom>
          <a:noFill/>
          <a:ln/>
        </p:spPr>
        <p:txBody>
          <a:bodyPr wrap="square" rtlCol="0" anchor="ctr"/>
          <a:lstStyle/>
          <a:p>
            <a:pPr indent="0" marL="0">
              <a:buNone/>
            </a:pPr>
            <a:r>
              <a:rPr lang="en-US" sz="1300" b="1" dirty="0">
                <a:solidFill>
                  <a:srgbClr val="FA947E"/>
                </a:solidFill>
                <a:latin typeface="Trebuchet MS" pitchFamily="34" charset="0"/>
                <a:ea typeface="Trebuchet MS" pitchFamily="34" charset="-122"/>
                <a:cs typeface="Trebuchet MS" pitchFamily="34" charset="-120"/>
              </a:rPr>
              <a:t>Mathematical Scoring Matrix (100 Point Scale)</a:t>
            </a:r>
            <a:endParaRPr lang="en-US" sz="1300" dirty="0"/>
          </a:p>
        </p:txBody>
      </p:sp>
      <p:sp>
        <p:nvSpPr>
          <p:cNvPr id="6" name="Shape 4"/>
          <p:cNvSpPr/>
          <p:nvPr/>
        </p:nvSpPr>
        <p:spPr>
          <a:xfrm>
            <a:off x="914400" y="1920240"/>
            <a:ext cx="4023360" cy="329184"/>
          </a:xfrm>
          <a:prstGeom prst="roundRect">
            <a:avLst>
              <a:gd name="adj" fmla="val 16667"/>
            </a:avLst>
          </a:prstGeom>
          <a:solidFill>
            <a:srgbClr val="111726"/>
          </a:solidFill>
          <a:ln w="12700">
            <a:solidFill>
              <a:srgbClr val="000000">
                <a:alpha val="0"/>
              </a:srgbClr>
            </a:solidFill>
            <a:prstDash val="solid"/>
          </a:ln>
        </p:spPr>
      </p:sp>
      <p:sp>
        <p:nvSpPr>
          <p:cNvPr id="7" name="Text 5"/>
          <p:cNvSpPr/>
          <p:nvPr/>
        </p:nvSpPr>
        <p:spPr>
          <a:xfrm>
            <a:off x="1005840" y="1920240"/>
            <a:ext cx="2103120" cy="329184"/>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Academic Marks / CGPA</a:t>
            </a:r>
            <a:endParaRPr lang="en-US" sz="950" dirty="0"/>
          </a:p>
        </p:txBody>
      </p:sp>
      <p:sp>
        <p:nvSpPr>
          <p:cNvPr id="8" name="Text 6"/>
          <p:cNvSpPr/>
          <p:nvPr/>
        </p:nvSpPr>
        <p:spPr>
          <a:xfrm>
            <a:off x="3108960" y="1920240"/>
            <a:ext cx="548640" cy="329184"/>
          </a:xfrm>
          <a:prstGeom prst="rect">
            <a:avLst/>
          </a:prstGeom>
          <a:noFill/>
          <a:ln/>
        </p:spPr>
        <p:txBody>
          <a:bodyPr wrap="square" rtlCol="0" anchor="ctr"/>
          <a:lstStyle/>
          <a:p>
            <a:pPr algn="ctr" indent="0" marL="0">
              <a:buNone/>
            </a:pPr>
            <a:r>
              <a:rPr lang="en-US" sz="1000" b="1" dirty="0">
                <a:solidFill>
                  <a:srgbClr val="10B981"/>
                </a:solidFill>
                <a:latin typeface="Trebuchet MS" pitchFamily="34" charset="0"/>
                <a:ea typeface="Trebuchet MS" pitchFamily="34" charset="-122"/>
                <a:cs typeface="Trebuchet MS" pitchFamily="34" charset="-120"/>
              </a:rPr>
              <a:t>25%</a:t>
            </a:r>
            <a:endParaRPr lang="en-US" sz="1000" dirty="0"/>
          </a:p>
        </p:txBody>
      </p:sp>
      <p:sp>
        <p:nvSpPr>
          <p:cNvPr id="9" name="Text 7"/>
          <p:cNvSpPr/>
          <p:nvPr/>
        </p:nvSpPr>
        <p:spPr>
          <a:xfrm>
            <a:off x="3657600" y="1920240"/>
            <a:ext cx="1234440" cy="329184"/>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Meets minimum published cutoffs</a:t>
            </a:r>
            <a:endParaRPr lang="en-US" sz="800" dirty="0"/>
          </a:p>
        </p:txBody>
      </p:sp>
      <p:sp>
        <p:nvSpPr>
          <p:cNvPr id="10" name="Shape 8"/>
          <p:cNvSpPr/>
          <p:nvPr/>
        </p:nvSpPr>
        <p:spPr>
          <a:xfrm>
            <a:off x="914400" y="2304288"/>
            <a:ext cx="4023360" cy="329184"/>
          </a:xfrm>
          <a:prstGeom prst="roundRect">
            <a:avLst>
              <a:gd name="adj" fmla="val 16667"/>
            </a:avLst>
          </a:prstGeom>
          <a:solidFill>
            <a:srgbClr val="182033"/>
          </a:solidFill>
          <a:ln w="12700">
            <a:solidFill>
              <a:srgbClr val="000000">
                <a:alpha val="0"/>
              </a:srgbClr>
            </a:solidFill>
            <a:prstDash val="solid"/>
          </a:ln>
        </p:spPr>
      </p:sp>
      <p:sp>
        <p:nvSpPr>
          <p:cNvPr id="11" name="Text 9"/>
          <p:cNvSpPr/>
          <p:nvPr/>
        </p:nvSpPr>
        <p:spPr>
          <a:xfrm>
            <a:off x="1005840" y="2304288"/>
            <a:ext cx="2103120" cy="329184"/>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Annual Family Income</a:t>
            </a:r>
            <a:endParaRPr lang="en-US" sz="950" dirty="0"/>
          </a:p>
        </p:txBody>
      </p:sp>
      <p:sp>
        <p:nvSpPr>
          <p:cNvPr id="12" name="Text 10"/>
          <p:cNvSpPr/>
          <p:nvPr/>
        </p:nvSpPr>
        <p:spPr>
          <a:xfrm>
            <a:off x="3108960" y="2304288"/>
            <a:ext cx="548640" cy="329184"/>
          </a:xfrm>
          <a:prstGeom prst="rect">
            <a:avLst/>
          </a:prstGeom>
          <a:noFill/>
          <a:ln/>
        </p:spPr>
        <p:txBody>
          <a:bodyPr wrap="square" rtlCol="0" anchor="ctr"/>
          <a:lstStyle/>
          <a:p>
            <a:pPr algn="ctr" indent="0" marL="0">
              <a:buNone/>
            </a:pPr>
            <a:r>
              <a:rPr lang="en-US" sz="1000" b="1" dirty="0">
                <a:solidFill>
                  <a:srgbClr val="10B981"/>
                </a:solidFill>
                <a:latin typeface="Trebuchet MS" pitchFamily="34" charset="0"/>
                <a:ea typeface="Trebuchet MS" pitchFamily="34" charset="-122"/>
                <a:cs typeface="Trebuchet MS" pitchFamily="34" charset="-120"/>
              </a:rPr>
              <a:t>25%</a:t>
            </a:r>
            <a:endParaRPr lang="en-US" sz="1000" dirty="0"/>
          </a:p>
        </p:txBody>
      </p:sp>
      <p:sp>
        <p:nvSpPr>
          <p:cNvPr id="13" name="Text 11"/>
          <p:cNvSpPr/>
          <p:nvPr/>
        </p:nvSpPr>
        <p:spPr>
          <a:xfrm>
            <a:off x="3657600" y="2304288"/>
            <a:ext cx="1234440" cy="329184"/>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Ceiling checks (e.g. &lt; ₹2.5L / ₹4.5L / ₹8L)</a:t>
            </a:r>
            <a:endParaRPr lang="en-US" sz="800" dirty="0"/>
          </a:p>
        </p:txBody>
      </p:sp>
      <p:sp>
        <p:nvSpPr>
          <p:cNvPr id="14" name="Shape 12"/>
          <p:cNvSpPr/>
          <p:nvPr/>
        </p:nvSpPr>
        <p:spPr>
          <a:xfrm>
            <a:off x="914400" y="2688336"/>
            <a:ext cx="4023360" cy="329184"/>
          </a:xfrm>
          <a:prstGeom prst="roundRect">
            <a:avLst>
              <a:gd name="adj" fmla="val 16667"/>
            </a:avLst>
          </a:prstGeom>
          <a:solidFill>
            <a:srgbClr val="111726"/>
          </a:solidFill>
          <a:ln w="12700">
            <a:solidFill>
              <a:srgbClr val="000000">
                <a:alpha val="0"/>
              </a:srgbClr>
            </a:solidFill>
            <a:prstDash val="solid"/>
          </a:ln>
        </p:spPr>
      </p:sp>
      <p:sp>
        <p:nvSpPr>
          <p:cNvPr id="15" name="Text 13"/>
          <p:cNvSpPr/>
          <p:nvPr/>
        </p:nvSpPr>
        <p:spPr>
          <a:xfrm>
            <a:off x="1005840" y="2688336"/>
            <a:ext cx="2103120" cy="329184"/>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Education Level &amp; Year</a:t>
            </a:r>
            <a:endParaRPr lang="en-US" sz="950" dirty="0"/>
          </a:p>
        </p:txBody>
      </p:sp>
      <p:sp>
        <p:nvSpPr>
          <p:cNvPr id="16" name="Text 14"/>
          <p:cNvSpPr/>
          <p:nvPr/>
        </p:nvSpPr>
        <p:spPr>
          <a:xfrm>
            <a:off x="3108960" y="2688336"/>
            <a:ext cx="548640" cy="329184"/>
          </a:xfrm>
          <a:prstGeom prst="rect">
            <a:avLst/>
          </a:prstGeom>
          <a:noFill/>
          <a:ln/>
        </p:spPr>
        <p:txBody>
          <a:bodyPr wrap="square" rtlCol="0" anchor="ctr"/>
          <a:lstStyle/>
          <a:p>
            <a:pPr algn="ctr" indent="0" marL="0">
              <a:buNone/>
            </a:pPr>
            <a:r>
              <a:rPr lang="en-US" sz="1000" b="1" dirty="0">
                <a:solidFill>
                  <a:srgbClr val="10B981"/>
                </a:solidFill>
                <a:latin typeface="Trebuchet MS" pitchFamily="34" charset="0"/>
                <a:ea typeface="Trebuchet MS" pitchFamily="34" charset="-122"/>
                <a:cs typeface="Trebuchet MS" pitchFamily="34" charset="-120"/>
              </a:rPr>
              <a:t>25%</a:t>
            </a:r>
            <a:endParaRPr lang="en-US" sz="1000" dirty="0"/>
          </a:p>
        </p:txBody>
      </p:sp>
      <p:sp>
        <p:nvSpPr>
          <p:cNvPr id="17" name="Text 15"/>
          <p:cNvSpPr/>
          <p:nvPr/>
        </p:nvSpPr>
        <p:spPr>
          <a:xfrm>
            <a:off x="3657600" y="2688336"/>
            <a:ext cx="1234440" cy="329184"/>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UG, Diploma, PG, or Final Year verification</a:t>
            </a:r>
            <a:endParaRPr lang="en-US" sz="800" dirty="0"/>
          </a:p>
        </p:txBody>
      </p:sp>
      <p:sp>
        <p:nvSpPr>
          <p:cNvPr id="18" name="Shape 16"/>
          <p:cNvSpPr/>
          <p:nvPr/>
        </p:nvSpPr>
        <p:spPr>
          <a:xfrm>
            <a:off x="914400" y="3072384"/>
            <a:ext cx="4023360" cy="329184"/>
          </a:xfrm>
          <a:prstGeom prst="roundRect">
            <a:avLst>
              <a:gd name="adj" fmla="val 16667"/>
            </a:avLst>
          </a:prstGeom>
          <a:solidFill>
            <a:srgbClr val="182033"/>
          </a:solidFill>
          <a:ln w="12700">
            <a:solidFill>
              <a:srgbClr val="000000">
                <a:alpha val="0"/>
              </a:srgbClr>
            </a:solidFill>
            <a:prstDash val="solid"/>
          </a:ln>
        </p:spPr>
      </p:sp>
      <p:sp>
        <p:nvSpPr>
          <p:cNvPr id="19" name="Text 17"/>
          <p:cNvSpPr/>
          <p:nvPr/>
        </p:nvSpPr>
        <p:spPr>
          <a:xfrm>
            <a:off x="1005840" y="3072384"/>
            <a:ext cx="2103120" cy="329184"/>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Category / Reservation</a:t>
            </a:r>
            <a:endParaRPr lang="en-US" sz="950" dirty="0"/>
          </a:p>
        </p:txBody>
      </p:sp>
      <p:sp>
        <p:nvSpPr>
          <p:cNvPr id="20" name="Text 18"/>
          <p:cNvSpPr/>
          <p:nvPr/>
        </p:nvSpPr>
        <p:spPr>
          <a:xfrm>
            <a:off x="3108960" y="3072384"/>
            <a:ext cx="548640" cy="329184"/>
          </a:xfrm>
          <a:prstGeom prst="rect">
            <a:avLst/>
          </a:prstGeom>
          <a:noFill/>
          <a:ln/>
        </p:spPr>
        <p:txBody>
          <a:bodyPr wrap="square" rtlCol="0" anchor="ctr"/>
          <a:lstStyle/>
          <a:p>
            <a:pPr algn="ctr" indent="0" marL="0">
              <a:buNone/>
            </a:pPr>
            <a:r>
              <a:rPr lang="en-US" sz="1000" b="1" dirty="0">
                <a:solidFill>
                  <a:srgbClr val="10B981"/>
                </a:solidFill>
                <a:latin typeface="Trebuchet MS" pitchFamily="34" charset="0"/>
                <a:ea typeface="Trebuchet MS" pitchFamily="34" charset="-122"/>
                <a:cs typeface="Trebuchet MS" pitchFamily="34" charset="-120"/>
              </a:rPr>
              <a:t>15%</a:t>
            </a:r>
            <a:endParaRPr lang="en-US" sz="1000" dirty="0"/>
          </a:p>
        </p:txBody>
      </p:sp>
      <p:sp>
        <p:nvSpPr>
          <p:cNvPr id="21" name="Text 19"/>
          <p:cNvSpPr/>
          <p:nvPr/>
        </p:nvSpPr>
        <p:spPr>
          <a:xfrm>
            <a:off x="3657600" y="3072384"/>
            <a:ext cx="1234440" cy="329184"/>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SC, ST, OBC, General-EWS specific rules</a:t>
            </a:r>
            <a:endParaRPr lang="en-US" sz="800" dirty="0"/>
          </a:p>
        </p:txBody>
      </p:sp>
      <p:sp>
        <p:nvSpPr>
          <p:cNvPr id="22" name="Shape 20"/>
          <p:cNvSpPr/>
          <p:nvPr/>
        </p:nvSpPr>
        <p:spPr>
          <a:xfrm>
            <a:off x="914400" y="3456432"/>
            <a:ext cx="4023360" cy="329184"/>
          </a:xfrm>
          <a:prstGeom prst="roundRect">
            <a:avLst>
              <a:gd name="adj" fmla="val 16667"/>
            </a:avLst>
          </a:prstGeom>
          <a:solidFill>
            <a:srgbClr val="111726"/>
          </a:solidFill>
          <a:ln w="12700">
            <a:solidFill>
              <a:srgbClr val="000000">
                <a:alpha val="0"/>
              </a:srgbClr>
            </a:solidFill>
            <a:prstDash val="solid"/>
          </a:ln>
        </p:spPr>
      </p:sp>
      <p:sp>
        <p:nvSpPr>
          <p:cNvPr id="23" name="Text 21"/>
          <p:cNvSpPr/>
          <p:nvPr/>
        </p:nvSpPr>
        <p:spPr>
          <a:xfrm>
            <a:off x="1005840" y="3456432"/>
            <a:ext cx="2103120" cy="329184"/>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State / Domicile Fit</a:t>
            </a:r>
            <a:endParaRPr lang="en-US" sz="950" dirty="0"/>
          </a:p>
        </p:txBody>
      </p:sp>
      <p:sp>
        <p:nvSpPr>
          <p:cNvPr id="24" name="Text 22"/>
          <p:cNvSpPr/>
          <p:nvPr/>
        </p:nvSpPr>
        <p:spPr>
          <a:xfrm>
            <a:off x="3108960" y="3456432"/>
            <a:ext cx="548640" cy="329184"/>
          </a:xfrm>
          <a:prstGeom prst="rect">
            <a:avLst/>
          </a:prstGeom>
          <a:noFill/>
          <a:ln/>
        </p:spPr>
        <p:txBody>
          <a:bodyPr wrap="square" rtlCol="0" anchor="ctr"/>
          <a:lstStyle/>
          <a:p>
            <a:pPr algn="ctr" indent="0" marL="0">
              <a:buNone/>
            </a:pPr>
            <a:r>
              <a:rPr lang="en-US" sz="1000" b="1" dirty="0">
                <a:solidFill>
                  <a:srgbClr val="10B981"/>
                </a:solidFill>
                <a:latin typeface="Trebuchet MS" pitchFamily="34" charset="0"/>
                <a:ea typeface="Trebuchet MS" pitchFamily="34" charset="-122"/>
                <a:cs typeface="Trebuchet MS" pitchFamily="34" charset="-120"/>
              </a:rPr>
              <a:t>10%</a:t>
            </a:r>
            <a:endParaRPr lang="en-US" sz="1000" dirty="0"/>
          </a:p>
        </p:txBody>
      </p:sp>
      <p:sp>
        <p:nvSpPr>
          <p:cNvPr id="25" name="Text 23"/>
          <p:cNvSpPr/>
          <p:nvPr/>
        </p:nvSpPr>
        <p:spPr>
          <a:xfrm>
            <a:off x="3657600" y="3456432"/>
            <a:ext cx="1234440" cy="329184"/>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Home State vs. State of Study criteria</a:t>
            </a:r>
            <a:endParaRPr lang="en-US" sz="800" dirty="0"/>
          </a:p>
        </p:txBody>
      </p:sp>
      <p:sp>
        <p:nvSpPr>
          <p:cNvPr id="26" name="Shape 24"/>
          <p:cNvSpPr/>
          <p:nvPr/>
        </p:nvSpPr>
        <p:spPr>
          <a:xfrm>
            <a:off x="5303520" y="1371600"/>
            <a:ext cx="3108960" cy="3200400"/>
          </a:xfrm>
          <a:prstGeom prst="roundRect">
            <a:avLst>
              <a:gd name="adj" fmla="val 3529"/>
            </a:avLst>
          </a:prstGeom>
          <a:solidFill>
            <a:srgbClr val="151C2C"/>
          </a:solidFill>
          <a:ln w="12700">
            <a:solidFill>
              <a:srgbClr val="243048"/>
            </a:solidFill>
            <a:prstDash val="solid"/>
          </a:ln>
          <a:effectLst>
            <a:outerShdw sx="100000" sy="100000" kx="0" ky="0" algn="bl" rotWithShape="0" blurRad="8.317487960419258e+45" dist="4.158743980209629e+45" dir="9.795520512e+54">
              <a:srgbClr val="000000">
                <a:alpha val="3.5e+54"/>
              </a:srgbClr>
            </a:outerShdw>
          </a:effectLst>
        </p:spPr>
      </p:sp>
      <p:sp>
        <p:nvSpPr>
          <p:cNvPr id="27" name="Text 25"/>
          <p:cNvSpPr/>
          <p:nvPr/>
        </p:nvSpPr>
        <p:spPr>
          <a:xfrm>
            <a:off x="5486400" y="1554480"/>
            <a:ext cx="2743200" cy="320040"/>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Strict Legal Gatekeeping Rules</a:t>
            </a:r>
            <a:endParaRPr lang="en-US" sz="1300" dirty="0"/>
          </a:p>
        </p:txBody>
      </p:sp>
      <p:sp>
        <p:nvSpPr>
          <p:cNvPr id="28" name="Shape 26"/>
          <p:cNvSpPr/>
          <p:nvPr/>
        </p:nvSpPr>
        <p:spPr>
          <a:xfrm>
            <a:off x="5486400" y="1965960"/>
            <a:ext cx="2743200" cy="731520"/>
          </a:xfrm>
          <a:prstGeom prst="roundRect">
            <a:avLst>
              <a:gd name="adj" fmla="val 10000"/>
            </a:avLst>
          </a:prstGeom>
          <a:solidFill>
            <a:srgbClr val="4A101D"/>
          </a:solidFill>
          <a:ln w="10160">
            <a:solidFill>
              <a:srgbClr val="74182F"/>
            </a:solidFill>
            <a:prstDash val="solid"/>
          </a:ln>
        </p:spPr>
      </p:sp>
      <p:sp>
        <p:nvSpPr>
          <p:cNvPr id="29" name="Text 27"/>
          <p:cNvSpPr/>
          <p:nvPr/>
        </p:nvSpPr>
        <p:spPr>
          <a:xfrm>
            <a:off x="5577840" y="2039112"/>
            <a:ext cx="2560320" cy="228600"/>
          </a:xfrm>
          <a:prstGeom prst="rect">
            <a:avLst/>
          </a:prstGeom>
          <a:noFill/>
          <a:ln/>
        </p:spPr>
        <p:txBody>
          <a:bodyPr wrap="square" rtlCol="0" anchor="ctr"/>
          <a:lstStyle/>
          <a:p>
            <a:pPr indent="0" marL="0">
              <a:buNone/>
            </a:pPr>
            <a:r>
              <a:rPr lang="en-US" sz="1000" b="1" dirty="0">
                <a:solidFill>
                  <a:srgbClr val="10B981"/>
                </a:solidFill>
                <a:latin typeface="Trebuchet MS" pitchFamily="34" charset="0"/>
                <a:ea typeface="Trebuchet MS" pitchFamily="34" charset="-122"/>
                <a:cs typeface="Trebuchet MS" pitchFamily="34" charset="-120"/>
              </a:rPr>
              <a:t>Likely Eligible (75% - 100%)</a:t>
            </a:r>
            <a:endParaRPr lang="en-US" sz="1000" dirty="0"/>
          </a:p>
        </p:txBody>
      </p:sp>
      <p:sp>
        <p:nvSpPr>
          <p:cNvPr id="30" name="Text 28"/>
          <p:cNvSpPr/>
          <p:nvPr/>
        </p:nvSpPr>
        <p:spPr>
          <a:xfrm>
            <a:off x="5577840" y="2258568"/>
            <a:ext cx="2560320" cy="384048"/>
          </a:xfrm>
          <a:prstGeom prst="rect">
            <a:avLst/>
          </a:prstGeom>
          <a:noFill/>
          <a:ln/>
        </p:spPr>
        <p:txBody>
          <a:bodyPr wrap="square" rtlCol="0" anchor="ctr"/>
          <a:lstStyle/>
          <a:p>
            <a:pPr indent="0" marL="0">
              <a:lnSpc>
                <a:spcPct val="110000"/>
              </a:lnSpc>
              <a:buNone/>
            </a:pPr>
            <a:r>
              <a:rPr lang="en-US" sz="850" dirty="0">
                <a:solidFill>
                  <a:srgbClr val="E2E8F0"/>
                </a:solidFill>
                <a:latin typeface="Arial" pitchFamily="34" charset="0"/>
                <a:ea typeface="Arial" pitchFamily="34" charset="-122"/>
                <a:cs typeface="Arial" pitchFamily="34" charset="-120"/>
              </a:rPr>
              <a:t>All mandatory criteria passed AND required documents (income, caste) verified.</a:t>
            </a:r>
            <a:endParaRPr lang="en-US" sz="850" dirty="0"/>
          </a:p>
        </p:txBody>
      </p:sp>
      <p:sp>
        <p:nvSpPr>
          <p:cNvPr id="31" name="Shape 29"/>
          <p:cNvSpPr/>
          <p:nvPr/>
        </p:nvSpPr>
        <p:spPr>
          <a:xfrm>
            <a:off x="5486400" y="2788920"/>
            <a:ext cx="2743200" cy="731520"/>
          </a:xfrm>
          <a:prstGeom prst="roundRect">
            <a:avLst>
              <a:gd name="adj" fmla="val 10000"/>
            </a:avLst>
          </a:prstGeom>
          <a:solidFill>
            <a:srgbClr val="4A101D"/>
          </a:solidFill>
          <a:ln w="10160">
            <a:solidFill>
              <a:srgbClr val="74182F"/>
            </a:solidFill>
            <a:prstDash val="solid"/>
          </a:ln>
        </p:spPr>
      </p:sp>
      <p:sp>
        <p:nvSpPr>
          <p:cNvPr id="32" name="Text 30"/>
          <p:cNvSpPr/>
          <p:nvPr/>
        </p:nvSpPr>
        <p:spPr>
          <a:xfrm>
            <a:off x="5577840" y="2862072"/>
            <a:ext cx="2560320" cy="228600"/>
          </a:xfrm>
          <a:prstGeom prst="rect">
            <a:avLst/>
          </a:prstGeom>
          <a:noFill/>
          <a:ln/>
        </p:spPr>
        <p:txBody>
          <a:bodyPr wrap="square" rtlCol="0" anchor="ctr"/>
          <a:lstStyle/>
          <a:p>
            <a:pPr indent="0" marL="0">
              <a:buNone/>
            </a:pPr>
            <a:r>
              <a:rPr lang="en-US" sz="1000" b="1" dirty="0">
                <a:solidFill>
                  <a:srgbClr val="FBBF24"/>
                </a:solidFill>
                <a:latin typeface="Trebuchet MS" pitchFamily="34" charset="0"/>
                <a:ea typeface="Trebuchet MS" pitchFamily="34" charset="-122"/>
                <a:cs typeface="Trebuchet MS" pitchFamily="34" charset="-120"/>
              </a:rPr>
              <a:t>Conditionally Eligible (35% - 58%)</a:t>
            </a:r>
            <a:endParaRPr lang="en-US" sz="1000" dirty="0"/>
          </a:p>
        </p:txBody>
      </p:sp>
      <p:sp>
        <p:nvSpPr>
          <p:cNvPr id="33" name="Text 31"/>
          <p:cNvSpPr/>
          <p:nvPr/>
        </p:nvSpPr>
        <p:spPr>
          <a:xfrm>
            <a:off x="5577840" y="3081528"/>
            <a:ext cx="2560320" cy="384048"/>
          </a:xfrm>
          <a:prstGeom prst="rect">
            <a:avLst/>
          </a:prstGeom>
          <a:noFill/>
          <a:ln/>
        </p:spPr>
        <p:txBody>
          <a:bodyPr wrap="square" rtlCol="0" anchor="ctr"/>
          <a:lstStyle/>
          <a:p>
            <a:pPr indent="0" marL="0">
              <a:lnSpc>
                <a:spcPct val="110000"/>
              </a:lnSpc>
              <a:buNone/>
            </a:pPr>
            <a:r>
              <a:rPr lang="en-US" sz="850" dirty="0">
                <a:solidFill>
                  <a:srgbClr val="E2E8F0"/>
                </a:solidFill>
                <a:latin typeface="Arial" pitchFamily="34" charset="0"/>
                <a:ea typeface="Arial" pitchFamily="34" charset="-122"/>
                <a:cs typeface="Arial" pitchFamily="34" charset="-120"/>
              </a:rPr>
              <a:t>Capped score! Academic match holds, but certificates or domicile pending verification. Never shown as 80%+!</a:t>
            </a:r>
            <a:endParaRPr lang="en-US" sz="850" dirty="0"/>
          </a:p>
        </p:txBody>
      </p:sp>
      <p:sp>
        <p:nvSpPr>
          <p:cNvPr id="34" name="Shape 32"/>
          <p:cNvSpPr/>
          <p:nvPr/>
        </p:nvSpPr>
        <p:spPr>
          <a:xfrm>
            <a:off x="5486400" y="3611880"/>
            <a:ext cx="2743200" cy="731520"/>
          </a:xfrm>
          <a:prstGeom prst="roundRect">
            <a:avLst>
              <a:gd name="adj" fmla="val 10000"/>
            </a:avLst>
          </a:prstGeom>
          <a:solidFill>
            <a:srgbClr val="4A101D"/>
          </a:solidFill>
          <a:ln w="10160">
            <a:solidFill>
              <a:srgbClr val="74182F"/>
            </a:solidFill>
            <a:prstDash val="solid"/>
          </a:ln>
        </p:spPr>
      </p:sp>
      <p:sp>
        <p:nvSpPr>
          <p:cNvPr id="35" name="Text 33"/>
          <p:cNvSpPr/>
          <p:nvPr/>
        </p:nvSpPr>
        <p:spPr>
          <a:xfrm>
            <a:off x="5577840" y="3685032"/>
            <a:ext cx="2560320" cy="228600"/>
          </a:xfrm>
          <a:prstGeom prst="rect">
            <a:avLst/>
          </a:prstGeom>
          <a:noFill/>
          <a:ln/>
        </p:spPr>
        <p:txBody>
          <a:bodyPr wrap="square" rtlCol="0" anchor="ctr"/>
          <a:lstStyle/>
          <a:p>
            <a:pPr indent="0" marL="0">
              <a:buNone/>
            </a:pPr>
            <a:r>
              <a:rPr lang="en-US" sz="1000" b="1" dirty="0">
                <a:solidFill>
                  <a:srgbClr val="EF4444"/>
                </a:solidFill>
                <a:latin typeface="Trebuchet MS" pitchFamily="34" charset="0"/>
                <a:ea typeface="Trebuchet MS" pitchFamily="34" charset="-122"/>
                <a:cs typeface="Trebuchet MS" pitchFamily="34" charset="-120"/>
              </a:rPr>
              <a:t>Likely Ineligible (0% - 25%)</a:t>
            </a:r>
            <a:endParaRPr lang="en-US" sz="1000" dirty="0"/>
          </a:p>
        </p:txBody>
      </p:sp>
      <p:sp>
        <p:nvSpPr>
          <p:cNvPr id="36" name="Text 34"/>
          <p:cNvSpPr/>
          <p:nvPr/>
        </p:nvSpPr>
        <p:spPr>
          <a:xfrm>
            <a:off x="5577840" y="3904488"/>
            <a:ext cx="2560320" cy="384048"/>
          </a:xfrm>
          <a:prstGeom prst="rect">
            <a:avLst/>
          </a:prstGeom>
          <a:noFill/>
          <a:ln/>
        </p:spPr>
        <p:txBody>
          <a:bodyPr wrap="square" rtlCol="0" anchor="ctr"/>
          <a:lstStyle/>
          <a:p>
            <a:pPr indent="0" marL="0">
              <a:lnSpc>
                <a:spcPct val="110000"/>
              </a:lnSpc>
              <a:buNone/>
            </a:pPr>
            <a:r>
              <a:rPr lang="en-US" sz="850" dirty="0">
                <a:solidFill>
                  <a:srgbClr val="E2E8F0"/>
                </a:solidFill>
                <a:latin typeface="Arial" pitchFamily="34" charset="0"/>
                <a:ea typeface="Arial" pitchFamily="34" charset="-122"/>
                <a:cs typeface="Arial" pitchFamily="34" charset="-120"/>
              </a:rPr>
              <a:t>Any mandatory threshold failed (e.g. income exceeds ceiling). Blocks false hope.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REAL-TIME OPPORTUNITY RADAR</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Autonomous Multi-Source Ingestion &amp; Verification</a:t>
            </a:r>
            <a:endParaRPr lang="en-US" sz="2400" dirty="0"/>
          </a:p>
        </p:txBody>
      </p:sp>
      <p:sp>
        <p:nvSpPr>
          <p:cNvPr id="4" name="Shape 2"/>
          <p:cNvSpPr/>
          <p:nvPr/>
        </p:nvSpPr>
        <p:spPr>
          <a:xfrm>
            <a:off x="731520" y="1371600"/>
            <a:ext cx="1874520" cy="1371600"/>
          </a:xfrm>
          <a:prstGeom prst="roundRect">
            <a:avLst>
              <a:gd name="adj" fmla="val 6667"/>
            </a:avLst>
          </a:prstGeom>
          <a:solidFill>
            <a:srgbClr val="151C2C"/>
          </a:solidFill>
          <a:ln w="12700">
            <a:solidFill>
              <a:srgbClr val="243048"/>
            </a:solidFill>
            <a:prstDash val="solid"/>
          </a:ln>
          <a:effectLst>
            <a:outerShdw sx="100000" sy="100000" kx="0" ky="0" algn="bl" rotWithShape="0" blurRad="1.0563209709732457e+50" dist="5.281604854866228e+49" dir="5.8773123072e+59">
              <a:srgbClr val="000000">
                <a:alpha val="3.5e+59"/>
              </a:srgbClr>
            </a:outerShdw>
          </a:effectLst>
        </p:spPr>
      </p:sp>
      <p:sp>
        <p:nvSpPr>
          <p:cNvPr id="5" name="Text 3"/>
          <p:cNvSpPr/>
          <p:nvPr/>
        </p:nvSpPr>
        <p:spPr>
          <a:xfrm>
            <a:off x="868680" y="1463040"/>
            <a:ext cx="457200" cy="274320"/>
          </a:xfrm>
          <a:prstGeom prst="rect">
            <a:avLst/>
          </a:prstGeom>
          <a:noFill/>
          <a:ln/>
        </p:spPr>
        <p:txBody>
          <a:bodyPr wrap="square" rtlCol="0" anchor="ctr"/>
          <a:lstStyle/>
          <a:p>
            <a:pPr indent="0" marL="0">
              <a:buNone/>
            </a:pPr>
            <a:r>
              <a:rPr lang="en-US" sz="1400" b="1" dirty="0">
                <a:solidFill>
                  <a:srgbClr val="FA947E"/>
                </a:solidFill>
                <a:latin typeface="Trebuchet MS" pitchFamily="34" charset="0"/>
                <a:ea typeface="Trebuchet MS" pitchFamily="34" charset="-122"/>
                <a:cs typeface="Trebuchet MS" pitchFamily="34" charset="-120"/>
              </a:rPr>
              <a:t>01</a:t>
            </a:r>
            <a:endParaRPr lang="en-US" sz="1400" dirty="0"/>
          </a:p>
        </p:txBody>
      </p:sp>
      <p:sp>
        <p:nvSpPr>
          <p:cNvPr id="6" name="Text 4"/>
          <p:cNvSpPr/>
          <p:nvPr/>
        </p:nvSpPr>
        <p:spPr>
          <a:xfrm>
            <a:off x="1325880" y="1463040"/>
            <a:ext cx="1188720" cy="274320"/>
          </a:xfrm>
          <a:prstGeom prst="rect">
            <a:avLst/>
          </a:prstGeom>
          <a:noFill/>
          <a:ln/>
        </p:spPr>
        <p:txBody>
          <a:bodyPr wrap="square" rtlCol="0" anchor="ctr"/>
          <a:lstStyle/>
          <a:p>
            <a:pPr indent="0" marL="0">
              <a:buNone/>
            </a:pPr>
            <a:r>
              <a:rPr lang="en-US" sz="1050" b="1" dirty="0">
                <a:solidFill>
                  <a:srgbClr val="FFFFFF"/>
                </a:solidFill>
                <a:latin typeface="Trebuchet MS" pitchFamily="34" charset="0"/>
                <a:ea typeface="Trebuchet MS" pitchFamily="34" charset="-122"/>
                <a:cs typeface="Trebuchet MS" pitchFamily="34" charset="-120"/>
              </a:rPr>
              <a:t>Targeted Scrapers</a:t>
            </a:r>
            <a:endParaRPr lang="en-US" sz="1050" dirty="0"/>
          </a:p>
        </p:txBody>
      </p:sp>
      <p:sp>
        <p:nvSpPr>
          <p:cNvPr id="7" name="Text 5"/>
          <p:cNvSpPr/>
          <p:nvPr/>
        </p:nvSpPr>
        <p:spPr>
          <a:xfrm>
            <a:off x="868680" y="1783080"/>
            <a:ext cx="1600200" cy="8686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Subagents connect to Buddy4Study, Unstop, AICTE &amp; NSP with automated rate limiting and robots compliance.</a:t>
            </a:r>
            <a:endParaRPr lang="en-US" sz="850" dirty="0"/>
          </a:p>
        </p:txBody>
      </p:sp>
      <p:sp>
        <p:nvSpPr>
          <p:cNvPr id="8" name="Shape 6"/>
          <p:cNvSpPr/>
          <p:nvPr/>
        </p:nvSpPr>
        <p:spPr>
          <a:xfrm>
            <a:off x="2697480" y="1371600"/>
            <a:ext cx="1874520" cy="1371600"/>
          </a:xfrm>
          <a:prstGeom prst="roundRect">
            <a:avLst>
              <a:gd name="adj" fmla="val 6667"/>
            </a:avLst>
          </a:prstGeom>
          <a:solidFill>
            <a:srgbClr val="151C2C"/>
          </a:solidFill>
          <a:ln w="12700">
            <a:solidFill>
              <a:srgbClr val="243048"/>
            </a:solidFill>
            <a:prstDash val="solid"/>
          </a:ln>
          <a:effectLst>
            <a:outerShdw sx="100000" sy="100000" kx="0" ky="0" algn="bl" rotWithShape="0" blurRad="1.341527633136022e+54" dist="6.70763816568011e+53" dir="3.52638738432e+64">
              <a:srgbClr val="000000">
                <a:alpha val="3.5000000000000004e+64"/>
              </a:srgbClr>
            </a:outerShdw>
          </a:effectLst>
        </p:spPr>
      </p:sp>
      <p:sp>
        <p:nvSpPr>
          <p:cNvPr id="9" name="Text 7"/>
          <p:cNvSpPr/>
          <p:nvPr/>
        </p:nvSpPr>
        <p:spPr>
          <a:xfrm>
            <a:off x="2834640" y="1463040"/>
            <a:ext cx="457200" cy="274320"/>
          </a:xfrm>
          <a:prstGeom prst="rect">
            <a:avLst/>
          </a:prstGeom>
          <a:noFill/>
          <a:ln/>
        </p:spPr>
        <p:txBody>
          <a:bodyPr wrap="square" rtlCol="0" anchor="ctr"/>
          <a:lstStyle/>
          <a:p>
            <a:pPr indent="0" marL="0">
              <a:buNone/>
            </a:pPr>
            <a:r>
              <a:rPr lang="en-US" sz="1400" b="1" dirty="0">
                <a:solidFill>
                  <a:srgbClr val="FA947E"/>
                </a:solidFill>
                <a:latin typeface="Trebuchet MS" pitchFamily="34" charset="0"/>
                <a:ea typeface="Trebuchet MS" pitchFamily="34" charset="-122"/>
                <a:cs typeface="Trebuchet MS" pitchFamily="34" charset="-120"/>
              </a:rPr>
              <a:t>02</a:t>
            </a:r>
            <a:endParaRPr lang="en-US" sz="1400" dirty="0"/>
          </a:p>
        </p:txBody>
      </p:sp>
      <p:sp>
        <p:nvSpPr>
          <p:cNvPr id="10" name="Text 8"/>
          <p:cNvSpPr/>
          <p:nvPr/>
        </p:nvSpPr>
        <p:spPr>
          <a:xfrm>
            <a:off x="3291840" y="1463040"/>
            <a:ext cx="1188720" cy="274320"/>
          </a:xfrm>
          <a:prstGeom prst="rect">
            <a:avLst/>
          </a:prstGeom>
          <a:noFill/>
          <a:ln/>
        </p:spPr>
        <p:txBody>
          <a:bodyPr wrap="square" rtlCol="0" anchor="ctr"/>
          <a:lstStyle/>
          <a:p>
            <a:pPr indent="0" marL="0">
              <a:buNone/>
            </a:pPr>
            <a:r>
              <a:rPr lang="en-US" sz="1050" b="1" dirty="0">
                <a:solidFill>
                  <a:srgbClr val="FFFFFF"/>
                </a:solidFill>
                <a:latin typeface="Trebuchet MS" pitchFamily="34" charset="0"/>
                <a:ea typeface="Trebuchet MS" pitchFamily="34" charset="-122"/>
                <a:cs typeface="Trebuchet MS" pitchFamily="34" charset="-120"/>
              </a:rPr>
              <a:t>Schema Normalizer</a:t>
            </a:r>
            <a:endParaRPr lang="en-US" sz="1050" dirty="0"/>
          </a:p>
        </p:txBody>
      </p:sp>
      <p:sp>
        <p:nvSpPr>
          <p:cNvPr id="11" name="Text 9"/>
          <p:cNvSpPr/>
          <p:nvPr/>
        </p:nvSpPr>
        <p:spPr>
          <a:xfrm>
            <a:off x="2834640" y="1783080"/>
            <a:ext cx="1600200" cy="8686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Extracts deadlines, CGPA bars, stipend amounts, and required document checklists into normalized JSON.</a:t>
            </a:r>
            <a:endParaRPr lang="en-US" sz="850" dirty="0"/>
          </a:p>
        </p:txBody>
      </p:sp>
      <p:sp>
        <p:nvSpPr>
          <p:cNvPr id="12" name="Shape 10"/>
          <p:cNvSpPr/>
          <p:nvPr/>
        </p:nvSpPr>
        <p:spPr>
          <a:xfrm>
            <a:off x="4663440" y="1371600"/>
            <a:ext cx="1874520" cy="1371600"/>
          </a:xfrm>
          <a:prstGeom prst="roundRect">
            <a:avLst>
              <a:gd name="adj" fmla="val 6667"/>
            </a:avLst>
          </a:prstGeom>
          <a:solidFill>
            <a:srgbClr val="151C2C"/>
          </a:solidFill>
          <a:ln w="12700">
            <a:solidFill>
              <a:srgbClr val="243048"/>
            </a:solidFill>
            <a:prstDash val="solid"/>
          </a:ln>
          <a:effectLst>
            <a:outerShdw sx="100000" sy="100000" kx="0" ky="0" algn="bl" rotWithShape="0" blurRad="1.7037400940827478e+58" dist="8.518700470413739e+57" dir="2.115832430592e+69">
              <a:srgbClr val="000000">
                <a:alpha val="3.500000000000001e+69"/>
              </a:srgbClr>
            </a:outerShdw>
          </a:effectLst>
        </p:spPr>
      </p:sp>
      <p:sp>
        <p:nvSpPr>
          <p:cNvPr id="13" name="Text 11"/>
          <p:cNvSpPr/>
          <p:nvPr/>
        </p:nvSpPr>
        <p:spPr>
          <a:xfrm>
            <a:off x="4800600" y="1463040"/>
            <a:ext cx="457200" cy="274320"/>
          </a:xfrm>
          <a:prstGeom prst="rect">
            <a:avLst/>
          </a:prstGeom>
          <a:noFill/>
          <a:ln/>
        </p:spPr>
        <p:txBody>
          <a:bodyPr wrap="square" rtlCol="0" anchor="ctr"/>
          <a:lstStyle/>
          <a:p>
            <a:pPr indent="0" marL="0">
              <a:buNone/>
            </a:pPr>
            <a:r>
              <a:rPr lang="en-US" sz="1400" b="1" dirty="0">
                <a:solidFill>
                  <a:srgbClr val="FA947E"/>
                </a:solidFill>
                <a:latin typeface="Trebuchet MS" pitchFamily="34" charset="0"/>
                <a:ea typeface="Trebuchet MS" pitchFamily="34" charset="-122"/>
                <a:cs typeface="Trebuchet MS" pitchFamily="34" charset="-120"/>
              </a:rPr>
              <a:t>03</a:t>
            </a:r>
            <a:endParaRPr lang="en-US" sz="1400" dirty="0"/>
          </a:p>
        </p:txBody>
      </p:sp>
      <p:sp>
        <p:nvSpPr>
          <p:cNvPr id="14" name="Text 12"/>
          <p:cNvSpPr/>
          <p:nvPr/>
        </p:nvSpPr>
        <p:spPr>
          <a:xfrm>
            <a:off x="5257800" y="1463040"/>
            <a:ext cx="1188720" cy="274320"/>
          </a:xfrm>
          <a:prstGeom prst="rect">
            <a:avLst/>
          </a:prstGeom>
          <a:noFill/>
          <a:ln/>
        </p:spPr>
        <p:txBody>
          <a:bodyPr wrap="square" rtlCol="0" anchor="ctr"/>
          <a:lstStyle/>
          <a:p>
            <a:pPr indent="0" marL="0">
              <a:buNone/>
            </a:pPr>
            <a:r>
              <a:rPr lang="en-US" sz="1050" b="1" dirty="0">
                <a:solidFill>
                  <a:srgbClr val="FFFFFF"/>
                </a:solidFill>
                <a:latin typeface="Trebuchet MS" pitchFamily="34" charset="0"/>
                <a:ea typeface="Trebuchet MS" pitchFamily="34" charset="-122"/>
                <a:cs typeface="Trebuchet MS" pitchFamily="34" charset="-120"/>
              </a:rPr>
              <a:t>Freshness &amp; De-dup</a:t>
            </a:r>
            <a:endParaRPr lang="en-US" sz="1050" dirty="0"/>
          </a:p>
        </p:txBody>
      </p:sp>
      <p:sp>
        <p:nvSpPr>
          <p:cNvPr id="15" name="Text 13"/>
          <p:cNvSpPr/>
          <p:nvPr/>
        </p:nvSpPr>
        <p:spPr>
          <a:xfrm>
            <a:off x="4800600" y="1783080"/>
            <a:ext cx="1600200" cy="8686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Detects changed deadlines, merges duplicates, flags stale notices, and records fetch timestamps.</a:t>
            </a:r>
            <a:endParaRPr lang="en-US" sz="850" dirty="0"/>
          </a:p>
        </p:txBody>
      </p:sp>
      <p:sp>
        <p:nvSpPr>
          <p:cNvPr id="16" name="Shape 14"/>
          <p:cNvSpPr/>
          <p:nvPr/>
        </p:nvSpPr>
        <p:spPr>
          <a:xfrm>
            <a:off x="6629400" y="1371600"/>
            <a:ext cx="1874520" cy="1371600"/>
          </a:xfrm>
          <a:prstGeom prst="roundRect">
            <a:avLst>
              <a:gd name="adj" fmla="val 6667"/>
            </a:avLst>
          </a:prstGeom>
          <a:solidFill>
            <a:srgbClr val="151C2C"/>
          </a:solidFill>
          <a:ln w="12700">
            <a:solidFill>
              <a:srgbClr val="243048"/>
            </a:solidFill>
            <a:prstDash val="solid"/>
          </a:ln>
          <a:effectLst>
            <a:outerShdw sx="100000" sy="100000" kx="0" ky="0" algn="bl" rotWithShape="0" blurRad="2.16374991948509e+62" dist="1.081874959742545e+62" dir="1.2694994583552e+74">
              <a:srgbClr val="000000">
                <a:alpha val="3.5000000000000006e+74"/>
              </a:srgbClr>
            </a:outerShdw>
          </a:effectLst>
        </p:spPr>
      </p:sp>
      <p:sp>
        <p:nvSpPr>
          <p:cNvPr id="17" name="Text 15"/>
          <p:cNvSpPr/>
          <p:nvPr/>
        </p:nvSpPr>
        <p:spPr>
          <a:xfrm>
            <a:off x="6766560" y="1463040"/>
            <a:ext cx="457200" cy="274320"/>
          </a:xfrm>
          <a:prstGeom prst="rect">
            <a:avLst/>
          </a:prstGeom>
          <a:noFill/>
          <a:ln/>
        </p:spPr>
        <p:txBody>
          <a:bodyPr wrap="square" rtlCol="0" anchor="ctr"/>
          <a:lstStyle/>
          <a:p>
            <a:pPr indent="0" marL="0">
              <a:buNone/>
            </a:pPr>
            <a:r>
              <a:rPr lang="en-US" sz="1400" b="1" dirty="0">
                <a:solidFill>
                  <a:srgbClr val="FA947E"/>
                </a:solidFill>
                <a:latin typeface="Trebuchet MS" pitchFamily="34" charset="0"/>
                <a:ea typeface="Trebuchet MS" pitchFamily="34" charset="-122"/>
                <a:cs typeface="Trebuchet MS" pitchFamily="34" charset="-120"/>
              </a:rPr>
              <a:t>04</a:t>
            </a:r>
            <a:endParaRPr lang="en-US" sz="1400" dirty="0"/>
          </a:p>
        </p:txBody>
      </p:sp>
      <p:sp>
        <p:nvSpPr>
          <p:cNvPr id="18" name="Text 16"/>
          <p:cNvSpPr/>
          <p:nvPr/>
        </p:nvSpPr>
        <p:spPr>
          <a:xfrm>
            <a:off x="7223760" y="1463040"/>
            <a:ext cx="1188720" cy="274320"/>
          </a:xfrm>
          <a:prstGeom prst="rect">
            <a:avLst/>
          </a:prstGeom>
          <a:noFill/>
          <a:ln/>
        </p:spPr>
        <p:txBody>
          <a:bodyPr wrap="square" rtlCol="0" anchor="ctr"/>
          <a:lstStyle/>
          <a:p>
            <a:pPr indent="0" marL="0">
              <a:buNone/>
            </a:pPr>
            <a:r>
              <a:rPr lang="en-US" sz="1050" b="1" dirty="0">
                <a:solidFill>
                  <a:srgbClr val="FFFFFF"/>
                </a:solidFill>
                <a:latin typeface="Trebuchet MS" pitchFamily="34" charset="0"/>
                <a:ea typeface="Trebuchet MS" pitchFamily="34" charset="-122"/>
                <a:cs typeface="Trebuchet MS" pitchFamily="34" charset="-120"/>
              </a:rPr>
              <a:t>Targeted Recalc</a:t>
            </a:r>
            <a:endParaRPr lang="en-US" sz="1050" dirty="0"/>
          </a:p>
        </p:txBody>
      </p:sp>
      <p:sp>
        <p:nvSpPr>
          <p:cNvPr id="19" name="Text 17"/>
          <p:cNvSpPr/>
          <p:nvPr/>
        </p:nvSpPr>
        <p:spPr>
          <a:xfrm>
            <a:off x="6766560" y="1783080"/>
            <a:ext cx="1600200" cy="8686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Queued event triggers recomputation only for affected student profiles, keeping cache lightning-fast.</a:t>
            </a:r>
            <a:endParaRPr lang="en-US" sz="850" dirty="0"/>
          </a:p>
        </p:txBody>
      </p:sp>
      <p:sp>
        <p:nvSpPr>
          <p:cNvPr id="20" name="Shape 18"/>
          <p:cNvSpPr/>
          <p:nvPr/>
        </p:nvSpPr>
        <p:spPr>
          <a:xfrm>
            <a:off x="731520" y="2926080"/>
            <a:ext cx="7680960" cy="1645920"/>
          </a:xfrm>
          <a:prstGeom prst="roundRect">
            <a:avLst>
              <a:gd name="adj" fmla="val 6667"/>
            </a:avLst>
          </a:prstGeom>
          <a:solidFill>
            <a:srgbClr val="101726"/>
          </a:solidFill>
          <a:ln w="12700">
            <a:solidFill>
              <a:srgbClr val="74182F"/>
            </a:solidFill>
            <a:prstDash val="solid"/>
          </a:ln>
          <a:effectLst>
            <a:outerShdw sx="100000" sy="100000" kx="0" ky="0" algn="bl" rotWithShape="0" blurRad="2.747962397746064e+66" dist="1.373981198873032e+66" dir="7.6169967501312e+78">
              <a:srgbClr val="000000">
                <a:alpha val="3.5000000000000005e+79"/>
              </a:srgbClr>
            </a:outerShdw>
          </a:effectLst>
        </p:spPr>
      </p:sp>
      <p:sp>
        <p:nvSpPr>
          <p:cNvPr id="21" name="Text 19"/>
          <p:cNvSpPr/>
          <p:nvPr/>
        </p:nvSpPr>
        <p:spPr>
          <a:xfrm>
            <a:off x="914400" y="3063240"/>
            <a:ext cx="7315200" cy="274320"/>
          </a:xfrm>
          <a:prstGeom prst="rect">
            <a:avLst/>
          </a:prstGeom>
          <a:noFill/>
          <a:ln/>
        </p:spPr>
        <p:txBody>
          <a:bodyPr wrap="square" rtlCol="0" anchor="ctr"/>
          <a:lstStyle/>
          <a:p>
            <a:pPr indent="0" marL="0">
              <a:buNone/>
            </a:pPr>
            <a:r>
              <a:rPr lang="en-US" sz="1100" b="1" dirty="0">
                <a:solidFill>
                  <a:srgbClr val="FA947E"/>
                </a:solidFill>
                <a:latin typeface="Trebuchet MS" pitchFamily="34" charset="0"/>
                <a:ea typeface="Trebuchet MS" pitchFamily="34" charset="-122"/>
                <a:cs typeface="Trebuchet MS" pitchFamily="34" charset="-120"/>
              </a:rPr>
              <a:t>PRODUCTION DATA INTEGRITY STATUS (LOCAL SQLITE STORE)</a:t>
            </a:r>
            <a:endParaRPr lang="en-US" sz="1100" dirty="0"/>
          </a:p>
        </p:txBody>
      </p:sp>
      <p:sp>
        <p:nvSpPr>
          <p:cNvPr id="22" name="Text 20"/>
          <p:cNvSpPr/>
          <p:nvPr/>
        </p:nvSpPr>
        <p:spPr>
          <a:xfrm>
            <a:off x="914400" y="3429000"/>
            <a:ext cx="1737360" cy="502920"/>
          </a:xfrm>
          <a:prstGeom prst="rect">
            <a:avLst/>
          </a:prstGeom>
          <a:noFill/>
          <a:ln/>
        </p:spPr>
        <p:txBody>
          <a:bodyPr wrap="square" rtlCol="0" anchor="ctr"/>
          <a:lstStyle/>
          <a:p>
            <a:pPr indent="0" marL="0">
              <a:buNone/>
            </a:pPr>
            <a:r>
              <a:rPr lang="en-US" sz="2800" b="1" dirty="0">
                <a:solidFill>
                  <a:srgbClr val="10B981"/>
                </a:solidFill>
                <a:latin typeface="Trebuchet MS" pitchFamily="34" charset="0"/>
                <a:ea typeface="Trebuchet MS" pitchFamily="34" charset="-122"/>
                <a:cs typeface="Trebuchet MS" pitchFamily="34" charset="-120"/>
              </a:rPr>
              <a:t>13</a:t>
            </a:r>
            <a:endParaRPr lang="en-US" sz="2800" dirty="0"/>
          </a:p>
        </p:txBody>
      </p:sp>
      <p:sp>
        <p:nvSpPr>
          <p:cNvPr id="23" name="Text 21"/>
          <p:cNvSpPr/>
          <p:nvPr/>
        </p:nvSpPr>
        <p:spPr>
          <a:xfrm>
            <a:off x="914400" y="3931920"/>
            <a:ext cx="1737360"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Verified Government Schemes</a:t>
            </a:r>
            <a:endParaRPr lang="en-US" sz="950" dirty="0"/>
          </a:p>
        </p:txBody>
      </p:sp>
      <p:sp>
        <p:nvSpPr>
          <p:cNvPr id="24" name="Text 22"/>
          <p:cNvSpPr/>
          <p:nvPr/>
        </p:nvSpPr>
        <p:spPr>
          <a:xfrm>
            <a:off x="914400" y="4187952"/>
            <a:ext cx="173736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PM-USP, AICTE Swanath, Post-Matric</a:t>
            </a:r>
            <a:endParaRPr lang="en-US" sz="800" dirty="0"/>
          </a:p>
        </p:txBody>
      </p:sp>
      <p:sp>
        <p:nvSpPr>
          <p:cNvPr id="25" name="Text 23"/>
          <p:cNvSpPr/>
          <p:nvPr/>
        </p:nvSpPr>
        <p:spPr>
          <a:xfrm>
            <a:off x="2788920" y="3429000"/>
            <a:ext cx="1737360" cy="502920"/>
          </a:xfrm>
          <a:prstGeom prst="rect">
            <a:avLst/>
          </a:prstGeom>
          <a:noFill/>
          <a:ln/>
        </p:spPr>
        <p:txBody>
          <a:bodyPr wrap="square" rtlCol="0" anchor="ctr"/>
          <a:lstStyle/>
          <a:p>
            <a:pPr indent="0" marL="0">
              <a:buNone/>
            </a:pPr>
            <a:r>
              <a:rPr lang="en-US" sz="2800" b="1" dirty="0">
                <a:solidFill>
                  <a:srgbClr val="10B981"/>
                </a:solidFill>
                <a:latin typeface="Trebuchet MS" pitchFamily="34" charset="0"/>
                <a:ea typeface="Trebuchet MS" pitchFamily="34" charset="-122"/>
                <a:cs typeface="Trebuchet MS" pitchFamily="34" charset="-120"/>
              </a:rPr>
              <a:t>35</a:t>
            </a:r>
            <a:endParaRPr lang="en-US" sz="2800" dirty="0"/>
          </a:p>
        </p:txBody>
      </p:sp>
      <p:sp>
        <p:nvSpPr>
          <p:cNvPr id="26" name="Text 24"/>
          <p:cNvSpPr/>
          <p:nvPr/>
        </p:nvSpPr>
        <p:spPr>
          <a:xfrm>
            <a:off x="2788920" y="3931920"/>
            <a:ext cx="1737360"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Active Curated Internships</a:t>
            </a:r>
            <a:endParaRPr lang="en-US" sz="950" dirty="0"/>
          </a:p>
        </p:txBody>
      </p:sp>
      <p:sp>
        <p:nvSpPr>
          <p:cNvPr id="27" name="Text 25"/>
          <p:cNvSpPr/>
          <p:nvPr/>
        </p:nvSpPr>
        <p:spPr>
          <a:xfrm>
            <a:off x="2788920" y="4187952"/>
            <a:ext cx="173736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Tech, AI/ML, Data Analyst, Embedded</a:t>
            </a:r>
            <a:endParaRPr lang="en-US" sz="800" dirty="0"/>
          </a:p>
        </p:txBody>
      </p:sp>
      <p:sp>
        <p:nvSpPr>
          <p:cNvPr id="28" name="Text 26"/>
          <p:cNvSpPr/>
          <p:nvPr/>
        </p:nvSpPr>
        <p:spPr>
          <a:xfrm>
            <a:off x="4663440" y="3429000"/>
            <a:ext cx="1737360" cy="502920"/>
          </a:xfrm>
          <a:prstGeom prst="rect">
            <a:avLst/>
          </a:prstGeom>
          <a:noFill/>
          <a:ln/>
        </p:spPr>
        <p:txBody>
          <a:bodyPr wrap="square" rtlCol="0" anchor="ctr"/>
          <a:lstStyle/>
          <a:p>
            <a:pPr indent="0" marL="0">
              <a:buNone/>
            </a:pPr>
            <a:r>
              <a:rPr lang="en-US" sz="2800" b="1" dirty="0">
                <a:solidFill>
                  <a:srgbClr val="10B981"/>
                </a:solidFill>
                <a:latin typeface="Trebuchet MS" pitchFamily="34" charset="0"/>
                <a:ea typeface="Trebuchet MS" pitchFamily="34" charset="-122"/>
                <a:cs typeface="Trebuchet MS" pitchFamily="34" charset="-120"/>
              </a:rPr>
              <a:t>42</a:t>
            </a:r>
            <a:endParaRPr lang="en-US" sz="2800" dirty="0"/>
          </a:p>
        </p:txBody>
      </p:sp>
      <p:sp>
        <p:nvSpPr>
          <p:cNvPr id="29" name="Text 27"/>
          <p:cNvSpPr/>
          <p:nvPr/>
        </p:nvSpPr>
        <p:spPr>
          <a:xfrm>
            <a:off x="4663440" y="3931920"/>
            <a:ext cx="1737360"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Accredited Free Courses</a:t>
            </a:r>
            <a:endParaRPr lang="en-US" sz="950" dirty="0"/>
          </a:p>
        </p:txBody>
      </p:sp>
      <p:sp>
        <p:nvSpPr>
          <p:cNvPr id="30" name="Text 28"/>
          <p:cNvSpPr/>
          <p:nvPr/>
        </p:nvSpPr>
        <p:spPr>
          <a:xfrm>
            <a:off x="4663440" y="4187952"/>
            <a:ext cx="173736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SWAYAM, NPTEL, freeCodeCamp</a:t>
            </a:r>
            <a:endParaRPr lang="en-US" sz="800" dirty="0"/>
          </a:p>
        </p:txBody>
      </p:sp>
      <p:sp>
        <p:nvSpPr>
          <p:cNvPr id="31" name="Text 29"/>
          <p:cNvSpPr/>
          <p:nvPr/>
        </p:nvSpPr>
        <p:spPr>
          <a:xfrm>
            <a:off x="6537960" y="3429000"/>
            <a:ext cx="1737360" cy="502920"/>
          </a:xfrm>
          <a:prstGeom prst="rect">
            <a:avLst/>
          </a:prstGeom>
          <a:noFill/>
          <a:ln/>
        </p:spPr>
        <p:txBody>
          <a:bodyPr wrap="square" rtlCol="0" anchor="ctr"/>
          <a:lstStyle/>
          <a:p>
            <a:pPr indent="0" marL="0">
              <a:buNone/>
            </a:pPr>
            <a:r>
              <a:rPr lang="en-US" sz="2800" b="1" dirty="0">
                <a:solidFill>
                  <a:srgbClr val="10B981"/>
                </a:solidFill>
                <a:latin typeface="Trebuchet MS" pitchFamily="34" charset="0"/>
                <a:ea typeface="Trebuchet MS" pitchFamily="34" charset="-122"/>
                <a:cs typeface="Trebuchet MS" pitchFamily="34" charset="-120"/>
              </a:rPr>
              <a:t>100%</a:t>
            </a:r>
            <a:endParaRPr lang="en-US" sz="2800" dirty="0"/>
          </a:p>
        </p:txBody>
      </p:sp>
      <p:sp>
        <p:nvSpPr>
          <p:cNvPr id="32" name="Text 30"/>
          <p:cNvSpPr/>
          <p:nvPr/>
        </p:nvSpPr>
        <p:spPr>
          <a:xfrm>
            <a:off x="6537960" y="3931920"/>
            <a:ext cx="1737360"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Provenanced Source Feeds</a:t>
            </a:r>
            <a:endParaRPr lang="en-US" sz="950" dirty="0"/>
          </a:p>
        </p:txBody>
      </p:sp>
      <p:sp>
        <p:nvSpPr>
          <p:cNvPr id="33" name="Text 31"/>
          <p:cNvSpPr/>
          <p:nvPr/>
        </p:nvSpPr>
        <p:spPr>
          <a:xfrm>
            <a:off x="6537960" y="4187952"/>
            <a:ext cx="173736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Timestamped official application URLs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CLOSING THE EMPLOYABILITY DELTA</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Skill-Gap Analyzer &amp; Accredited Learning Pathways</a:t>
            </a:r>
            <a:endParaRPr lang="en-US" sz="2400" dirty="0"/>
          </a:p>
        </p:txBody>
      </p:sp>
      <p:pic>
        <p:nvPicPr>
          <p:cNvPr id="4" name="Image 0" descr="D:\hackathon\backend\assets\images\student_coding.jpg">    </p:cNvPr>
          <p:cNvPicPr>
            <a:picLocks noChangeAspect="1"/>
          </p:cNvPicPr>
          <p:nvPr/>
        </p:nvPicPr>
        <p:blipFill>
          <a:blip r:embed="rId1"/>
          <a:stretch>
            <a:fillRect/>
          </a:stretch>
        </p:blipFill>
        <p:spPr>
          <a:xfrm>
            <a:off x="731520" y="1371600"/>
            <a:ext cx="2560320" cy="3200400"/>
          </a:xfrm>
          <a:prstGeom prst="ellipse">
            <a:avLst/>
          </a:prstGeom>
          <a:effectLst>
            <a:outerShdw sx="100000" sy="100000" kx="0" ky="0" algn="bl" rotWithShape="0" blurRad="3.4899122451375014e+70" dist="1.7449561225687507e+70" dir="4.57019805007872e+83">
              <a:srgbClr val="000000">
                <a:alpha val="3.5000000000000003e+84"/>
              </a:srgbClr>
            </a:outerShdw>
          </a:effectLst>
        </p:spPr>
      </p:pic>
      <p:sp>
        <p:nvSpPr>
          <p:cNvPr id="5" name="Shape 2"/>
          <p:cNvSpPr/>
          <p:nvPr/>
        </p:nvSpPr>
        <p:spPr>
          <a:xfrm>
            <a:off x="868680" y="4069080"/>
            <a:ext cx="2286000" cy="384048"/>
          </a:xfrm>
          <a:prstGeom prst="roundRect">
            <a:avLst>
              <a:gd name="adj" fmla="val 19048"/>
            </a:avLst>
          </a:prstGeom>
          <a:solidFill>
            <a:srgbClr val="000000">
              <a:alpha val="70000"/>
            </a:srgbClr>
          </a:solidFill>
          <a:ln w="12700">
            <a:solidFill>
              <a:srgbClr val="38BDF8"/>
            </a:solidFill>
            <a:prstDash val="solid"/>
          </a:ln>
        </p:spPr>
      </p:sp>
      <p:sp>
        <p:nvSpPr>
          <p:cNvPr id="6" name="Text 3"/>
          <p:cNvSpPr/>
          <p:nvPr/>
        </p:nvSpPr>
        <p:spPr>
          <a:xfrm>
            <a:off x="914400" y="4069080"/>
            <a:ext cx="2194560" cy="384048"/>
          </a:xfrm>
          <a:prstGeom prst="rect">
            <a:avLst/>
          </a:prstGeom>
          <a:noFill/>
          <a:ln/>
        </p:spPr>
        <p:txBody>
          <a:bodyPr wrap="square" rtlCol="0" anchor="ctr"/>
          <a:lstStyle/>
          <a:p>
            <a:pPr algn="ctr" indent="0" marL="0">
              <a:buNone/>
            </a:pPr>
            <a:r>
              <a:rPr lang="en-US" sz="900" b="1" dirty="0">
                <a:solidFill>
                  <a:srgbClr val="38BDF8"/>
                </a:solidFill>
                <a:latin typeface="Arial" pitchFamily="34" charset="0"/>
                <a:ea typeface="Arial" pitchFamily="34" charset="-122"/>
                <a:cs typeface="Arial" pitchFamily="34" charset="-120"/>
              </a:rPr>
              <a:t>Tailored to Telugu &amp; English</a:t>
            </a:r>
            <a:endParaRPr lang="en-US" sz="900" dirty="0"/>
          </a:p>
        </p:txBody>
      </p:sp>
      <p:sp>
        <p:nvSpPr>
          <p:cNvPr id="7" name="Shape 4"/>
          <p:cNvSpPr/>
          <p:nvPr/>
        </p:nvSpPr>
        <p:spPr>
          <a:xfrm>
            <a:off x="3474720" y="1371600"/>
            <a:ext cx="4937760" cy="3200400"/>
          </a:xfrm>
          <a:prstGeom prst="roundRect">
            <a:avLst>
              <a:gd name="adj" fmla="val 3429"/>
            </a:avLst>
          </a:prstGeom>
          <a:solidFill>
            <a:srgbClr val="151C2C"/>
          </a:solidFill>
          <a:ln w="12700">
            <a:solidFill>
              <a:srgbClr val="243048"/>
            </a:solidFill>
            <a:prstDash val="solid"/>
          </a:ln>
          <a:effectLst>
            <a:outerShdw sx="100000" sy="100000" kx="0" ky="0" algn="bl" rotWithShape="0" blurRad="4.432188551324627e+74" dist="2.2160942756623134e+74" dir="2.742118830047232e+88">
              <a:srgbClr val="000000">
                <a:alpha val="3.5e+89"/>
              </a:srgbClr>
            </a:outerShdw>
          </a:effectLst>
        </p:spPr>
      </p:sp>
      <p:sp>
        <p:nvSpPr>
          <p:cNvPr id="8" name="Text 5"/>
          <p:cNvSpPr/>
          <p:nvPr/>
        </p:nvSpPr>
        <p:spPr>
          <a:xfrm>
            <a:off x="3657600" y="1554480"/>
            <a:ext cx="4572000" cy="320040"/>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Target Role: AI / Machine Learning Intern</a:t>
            </a:r>
            <a:endParaRPr lang="en-US" sz="1300" dirty="0"/>
          </a:p>
        </p:txBody>
      </p:sp>
      <p:sp>
        <p:nvSpPr>
          <p:cNvPr id="9" name="Shape 6"/>
          <p:cNvSpPr/>
          <p:nvPr/>
        </p:nvSpPr>
        <p:spPr>
          <a:xfrm>
            <a:off x="3657600" y="1920240"/>
            <a:ext cx="2194560" cy="822960"/>
          </a:xfrm>
          <a:prstGeom prst="roundRect">
            <a:avLst>
              <a:gd name="adj" fmla="val 8889"/>
            </a:avLst>
          </a:prstGeom>
          <a:solidFill>
            <a:srgbClr val="0E2E1E"/>
          </a:solidFill>
          <a:ln w="12700">
            <a:solidFill>
              <a:srgbClr val="10B981"/>
            </a:solidFill>
            <a:prstDash val="solid"/>
          </a:ln>
        </p:spPr>
      </p:sp>
      <p:sp>
        <p:nvSpPr>
          <p:cNvPr id="10" name="Text 7"/>
          <p:cNvSpPr/>
          <p:nvPr/>
        </p:nvSpPr>
        <p:spPr>
          <a:xfrm>
            <a:off x="3749040" y="1993392"/>
            <a:ext cx="2011680" cy="182880"/>
          </a:xfrm>
          <a:prstGeom prst="rect">
            <a:avLst/>
          </a:prstGeom>
          <a:noFill/>
          <a:ln/>
        </p:spPr>
        <p:txBody>
          <a:bodyPr wrap="square" rtlCol="0" anchor="ctr"/>
          <a:lstStyle/>
          <a:p>
            <a:pPr indent="0" marL="0">
              <a:buNone/>
            </a:pPr>
            <a:r>
              <a:rPr lang="en-US" sz="800" b="1" dirty="0">
                <a:solidFill>
                  <a:srgbClr val="10B981"/>
                </a:solidFill>
                <a:latin typeface="Arial" pitchFamily="34" charset="0"/>
                <a:ea typeface="Arial" pitchFamily="34" charset="-122"/>
                <a:cs typeface="Arial" pitchFamily="34" charset="-120"/>
              </a:rPr>
              <a:t>VERIFIED MATCHED SKILLS (40%)</a:t>
            </a:r>
            <a:endParaRPr lang="en-US" sz="800" dirty="0"/>
          </a:p>
        </p:txBody>
      </p:sp>
      <p:sp>
        <p:nvSpPr>
          <p:cNvPr id="11" name="Text 8"/>
          <p:cNvSpPr/>
          <p:nvPr/>
        </p:nvSpPr>
        <p:spPr>
          <a:xfrm>
            <a:off x="3749040" y="2194560"/>
            <a:ext cx="2011680" cy="502920"/>
          </a:xfrm>
          <a:prstGeom prst="rect">
            <a:avLst/>
          </a:prstGeom>
          <a:noFill/>
          <a:ln/>
        </p:spPr>
        <p:txBody>
          <a:bodyPr wrap="square" rtlCol="0" anchor="ctr"/>
          <a:lstStyle/>
          <a:p>
            <a:pPr indent="0" marL="0">
              <a:lnSpc>
                <a:spcPct val="115000"/>
              </a:lnSpc>
              <a:buNone/>
            </a:pPr>
            <a:r>
              <a:rPr lang="en-US" sz="850" dirty="0">
                <a:solidFill>
                  <a:srgbClr val="E2E8F0"/>
                </a:solidFill>
                <a:latin typeface="Arial" pitchFamily="34" charset="0"/>
                <a:ea typeface="Arial" pitchFamily="34" charset="-122"/>
                <a:cs typeface="Arial" pitchFamily="34" charset="-120"/>
              </a:rPr>
              <a:t>• Python (Intermediate)</a:t>
            </a:r>
            <a:endParaRPr lang="en-US" sz="850" dirty="0"/>
          </a:p>
          <a:p>
            <a:pPr indent="0" marL="0">
              <a:lnSpc>
                <a:spcPct val="115000"/>
              </a:lnSpc>
              <a:buNone/>
            </a:pPr>
            <a:r>
              <a:rPr lang="en-US" sz="850" dirty="0">
                <a:solidFill>
                  <a:srgbClr val="E2E8F0"/>
                </a:solidFill>
                <a:latin typeface="Arial" pitchFamily="34" charset="0"/>
                <a:ea typeface="Arial" pitchFamily="34" charset="-122"/>
                <a:cs typeface="Arial" pitchFamily="34" charset="-120"/>
              </a:rPr>
              <a:t>• Git &amp; GitHub Versioning</a:t>
            </a:r>
            <a:endParaRPr lang="en-US" sz="850" dirty="0"/>
          </a:p>
          <a:p>
            <a:pPr indent="0" marL="0">
              <a:lnSpc>
                <a:spcPct val="115000"/>
              </a:lnSpc>
              <a:buNone/>
            </a:pPr>
            <a:r>
              <a:rPr lang="en-US" sz="850" dirty="0">
                <a:solidFill>
                  <a:srgbClr val="E2E8F0"/>
                </a:solidFill>
                <a:latin typeface="Arial" pitchFamily="34" charset="0"/>
                <a:ea typeface="Arial" pitchFamily="34" charset="-122"/>
                <a:cs typeface="Arial" pitchFamily="34" charset="-120"/>
              </a:rPr>
              <a:t>• Basic Linear Algebra</a:t>
            </a:r>
            <a:endParaRPr lang="en-US" sz="850" dirty="0"/>
          </a:p>
        </p:txBody>
      </p:sp>
      <p:sp>
        <p:nvSpPr>
          <p:cNvPr id="12" name="Shape 9"/>
          <p:cNvSpPr/>
          <p:nvPr/>
        </p:nvSpPr>
        <p:spPr>
          <a:xfrm>
            <a:off x="6035040" y="1920240"/>
            <a:ext cx="2194560" cy="822960"/>
          </a:xfrm>
          <a:prstGeom prst="roundRect">
            <a:avLst>
              <a:gd name="adj" fmla="val 8889"/>
            </a:avLst>
          </a:prstGeom>
          <a:solidFill>
            <a:srgbClr val="301217"/>
          </a:solidFill>
          <a:ln w="12700">
            <a:solidFill>
              <a:srgbClr val="EF4444"/>
            </a:solidFill>
            <a:prstDash val="solid"/>
          </a:ln>
        </p:spPr>
      </p:sp>
      <p:sp>
        <p:nvSpPr>
          <p:cNvPr id="13" name="Text 10"/>
          <p:cNvSpPr/>
          <p:nvPr/>
        </p:nvSpPr>
        <p:spPr>
          <a:xfrm>
            <a:off x="6126480" y="1993392"/>
            <a:ext cx="2011680" cy="182880"/>
          </a:xfrm>
          <a:prstGeom prst="rect">
            <a:avLst/>
          </a:prstGeom>
          <a:noFill/>
          <a:ln/>
        </p:spPr>
        <p:txBody>
          <a:bodyPr wrap="square" rtlCol="0" anchor="ctr"/>
          <a:lstStyle/>
          <a:p>
            <a:pPr indent="0" marL="0">
              <a:buNone/>
            </a:pPr>
            <a:r>
              <a:rPr lang="en-US" sz="800" b="1" dirty="0">
                <a:solidFill>
                  <a:srgbClr val="FCA5A5"/>
                </a:solidFill>
                <a:latin typeface="Arial" pitchFamily="34" charset="0"/>
                <a:ea typeface="Arial" pitchFamily="34" charset="-122"/>
                <a:cs typeface="Arial" pitchFamily="34" charset="-120"/>
              </a:rPr>
              <a:t>IDENTIFIED SKILL GAPS (60%)</a:t>
            </a:r>
            <a:endParaRPr lang="en-US" sz="800" dirty="0"/>
          </a:p>
        </p:txBody>
      </p:sp>
      <p:sp>
        <p:nvSpPr>
          <p:cNvPr id="14" name="Text 11"/>
          <p:cNvSpPr/>
          <p:nvPr/>
        </p:nvSpPr>
        <p:spPr>
          <a:xfrm>
            <a:off x="6126480" y="2194560"/>
            <a:ext cx="2011680" cy="502920"/>
          </a:xfrm>
          <a:prstGeom prst="rect">
            <a:avLst/>
          </a:prstGeom>
          <a:noFill/>
          <a:ln/>
        </p:spPr>
        <p:txBody>
          <a:bodyPr wrap="square" rtlCol="0" anchor="ctr"/>
          <a:lstStyle/>
          <a:p>
            <a:pPr indent="0" marL="0">
              <a:lnSpc>
                <a:spcPct val="115000"/>
              </a:lnSpc>
              <a:buNone/>
            </a:pPr>
            <a:r>
              <a:rPr lang="en-US" sz="850" dirty="0">
                <a:solidFill>
                  <a:srgbClr val="E2E8F0"/>
                </a:solidFill>
                <a:latin typeface="Arial" pitchFamily="34" charset="0"/>
                <a:ea typeface="Arial" pitchFamily="34" charset="-122"/>
                <a:cs typeface="Arial" pitchFamily="34" charset="-120"/>
              </a:rPr>
              <a:t>• Pandas / NumPy Data Wrangling</a:t>
            </a:r>
            <a:endParaRPr lang="en-US" sz="850" dirty="0"/>
          </a:p>
          <a:p>
            <a:pPr indent="0" marL="0">
              <a:lnSpc>
                <a:spcPct val="115000"/>
              </a:lnSpc>
              <a:buNone/>
            </a:pPr>
            <a:r>
              <a:rPr lang="en-US" sz="850" dirty="0">
                <a:solidFill>
                  <a:srgbClr val="E2E8F0"/>
                </a:solidFill>
                <a:latin typeface="Arial" pitchFamily="34" charset="0"/>
                <a:ea typeface="Arial" pitchFamily="34" charset="-122"/>
                <a:cs typeface="Arial" pitchFamily="34" charset="-120"/>
              </a:rPr>
              <a:t>• Deep Learning with PyTorch</a:t>
            </a:r>
            <a:endParaRPr lang="en-US" sz="850" dirty="0"/>
          </a:p>
          <a:p>
            <a:pPr indent="0" marL="0">
              <a:lnSpc>
                <a:spcPct val="115000"/>
              </a:lnSpc>
              <a:buNone/>
            </a:pPr>
            <a:r>
              <a:rPr lang="en-US" sz="850" dirty="0">
                <a:solidFill>
                  <a:srgbClr val="E2E8F0"/>
                </a:solidFill>
                <a:latin typeface="Arial" pitchFamily="34" charset="0"/>
                <a:ea typeface="Arial" pitchFamily="34" charset="-122"/>
                <a:cs typeface="Arial" pitchFamily="34" charset="-120"/>
              </a:rPr>
              <a:t>• Model Serving (FastAPI / Render)</a:t>
            </a:r>
            <a:endParaRPr lang="en-US" sz="850" dirty="0"/>
          </a:p>
        </p:txBody>
      </p:sp>
      <p:sp>
        <p:nvSpPr>
          <p:cNvPr id="15" name="Text 12"/>
          <p:cNvSpPr/>
          <p:nvPr/>
        </p:nvSpPr>
        <p:spPr>
          <a:xfrm>
            <a:off x="3657600" y="2880360"/>
            <a:ext cx="4572000" cy="228600"/>
          </a:xfrm>
          <a:prstGeom prst="rect">
            <a:avLst/>
          </a:prstGeom>
          <a:noFill/>
          <a:ln/>
        </p:spPr>
        <p:txBody>
          <a:bodyPr wrap="square" rtlCol="0" anchor="ctr"/>
          <a:lstStyle/>
          <a:p>
            <a:pPr indent="0" marL="0">
              <a:buNone/>
            </a:pPr>
            <a:r>
              <a:rPr lang="en-US" sz="1050" b="1" dirty="0">
                <a:solidFill>
                  <a:srgbClr val="FA947E"/>
                </a:solidFill>
                <a:latin typeface="Trebuchet MS" pitchFamily="34" charset="0"/>
                <a:ea typeface="Trebuchet MS" pitchFamily="34" charset="-122"/>
                <a:cs typeface="Trebuchet MS" pitchFamily="34" charset="-120"/>
              </a:rPr>
              <a:t>Actionable 3-Step Bridging Pathway (100% Free):</a:t>
            </a:r>
            <a:endParaRPr lang="en-US" sz="1050" dirty="0"/>
          </a:p>
        </p:txBody>
      </p:sp>
      <p:sp>
        <p:nvSpPr>
          <p:cNvPr id="16" name="Shape 13"/>
          <p:cNvSpPr/>
          <p:nvPr/>
        </p:nvSpPr>
        <p:spPr>
          <a:xfrm>
            <a:off x="3657600" y="3154680"/>
            <a:ext cx="4572000" cy="384048"/>
          </a:xfrm>
          <a:prstGeom prst="roundRect">
            <a:avLst>
              <a:gd name="adj" fmla="val 14286"/>
            </a:avLst>
          </a:prstGeom>
          <a:solidFill>
            <a:srgbClr val="111726"/>
          </a:solidFill>
          <a:ln w="10160">
            <a:solidFill>
              <a:srgbClr val="243048"/>
            </a:solidFill>
            <a:prstDash val="solid"/>
          </a:ln>
        </p:spPr>
      </p:sp>
      <p:sp>
        <p:nvSpPr>
          <p:cNvPr id="17" name="Text 14"/>
          <p:cNvSpPr/>
          <p:nvPr/>
        </p:nvSpPr>
        <p:spPr>
          <a:xfrm>
            <a:off x="3794760" y="3191256"/>
            <a:ext cx="3291840" cy="18288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Course 1: Python for Data Science (NPTEL / Swayam)</a:t>
            </a:r>
            <a:endParaRPr lang="en-US" sz="900" dirty="0"/>
          </a:p>
        </p:txBody>
      </p:sp>
      <p:sp>
        <p:nvSpPr>
          <p:cNvPr id="18" name="Text 15"/>
          <p:cNvSpPr/>
          <p:nvPr/>
        </p:nvSpPr>
        <p:spPr>
          <a:xfrm>
            <a:off x="3794760" y="3355848"/>
            <a:ext cx="3291840" cy="146304"/>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3 weeks • ₹0 Verified</a:t>
            </a:r>
            <a:endParaRPr lang="en-US" sz="750" dirty="0"/>
          </a:p>
        </p:txBody>
      </p:sp>
      <p:sp>
        <p:nvSpPr>
          <p:cNvPr id="19" name="Shape 16"/>
          <p:cNvSpPr/>
          <p:nvPr/>
        </p:nvSpPr>
        <p:spPr>
          <a:xfrm>
            <a:off x="7132320" y="3227832"/>
            <a:ext cx="1005840" cy="228600"/>
          </a:xfrm>
          <a:prstGeom prst="roundRect">
            <a:avLst>
              <a:gd name="adj" fmla="val 20000"/>
            </a:avLst>
          </a:prstGeom>
          <a:solidFill>
            <a:srgbClr val="000000">
              <a:alpha val="70000"/>
            </a:srgbClr>
          </a:solidFill>
          <a:ln w="7620">
            <a:solidFill>
              <a:srgbClr val="FA947E"/>
            </a:solidFill>
            <a:prstDash val="solid"/>
          </a:ln>
        </p:spPr>
      </p:sp>
      <p:sp>
        <p:nvSpPr>
          <p:cNvPr id="20" name="Text 17"/>
          <p:cNvSpPr/>
          <p:nvPr/>
        </p:nvSpPr>
        <p:spPr>
          <a:xfrm>
            <a:off x="7132320" y="3227832"/>
            <a:ext cx="1005840" cy="228600"/>
          </a:xfrm>
          <a:prstGeom prst="rect">
            <a:avLst/>
          </a:prstGeom>
          <a:noFill/>
          <a:ln/>
        </p:spPr>
        <p:txBody>
          <a:bodyPr wrap="square" rtlCol="0" anchor="ctr"/>
          <a:lstStyle/>
          <a:p>
            <a:pPr algn="ctr" indent="0" marL="0">
              <a:buNone/>
            </a:pPr>
            <a:r>
              <a:rPr lang="en-US" sz="750" b="1" dirty="0">
                <a:solidFill>
                  <a:srgbClr val="FA947E"/>
                </a:solidFill>
                <a:latin typeface="Arial" pitchFamily="34" charset="0"/>
                <a:ea typeface="Arial" pitchFamily="34" charset="-122"/>
                <a:cs typeface="Arial" pitchFamily="34" charset="-120"/>
              </a:rPr>
              <a:t>Accredited</a:t>
            </a:r>
            <a:endParaRPr lang="en-US" sz="750" dirty="0"/>
          </a:p>
        </p:txBody>
      </p:sp>
      <p:sp>
        <p:nvSpPr>
          <p:cNvPr id="21" name="Shape 18"/>
          <p:cNvSpPr/>
          <p:nvPr/>
        </p:nvSpPr>
        <p:spPr>
          <a:xfrm>
            <a:off x="3657600" y="3593592"/>
            <a:ext cx="4572000" cy="384048"/>
          </a:xfrm>
          <a:prstGeom prst="roundRect">
            <a:avLst>
              <a:gd name="adj" fmla="val 14286"/>
            </a:avLst>
          </a:prstGeom>
          <a:solidFill>
            <a:srgbClr val="111726"/>
          </a:solidFill>
          <a:ln w="10160">
            <a:solidFill>
              <a:srgbClr val="243048"/>
            </a:solidFill>
            <a:prstDash val="solid"/>
          </a:ln>
        </p:spPr>
      </p:sp>
      <p:sp>
        <p:nvSpPr>
          <p:cNvPr id="22" name="Text 19"/>
          <p:cNvSpPr/>
          <p:nvPr/>
        </p:nvSpPr>
        <p:spPr>
          <a:xfrm>
            <a:off x="3794760" y="3630168"/>
            <a:ext cx="3291840" cy="18288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Course 2: Deep Learning with PyTorch (freeCodeCamp)</a:t>
            </a:r>
            <a:endParaRPr lang="en-US" sz="900" dirty="0"/>
          </a:p>
        </p:txBody>
      </p:sp>
      <p:sp>
        <p:nvSpPr>
          <p:cNvPr id="23" name="Text 20"/>
          <p:cNvSpPr/>
          <p:nvPr/>
        </p:nvSpPr>
        <p:spPr>
          <a:xfrm>
            <a:off x="3794760" y="3794760"/>
            <a:ext cx="3291840" cy="146304"/>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4 weeks • Hands-on Projects</a:t>
            </a:r>
            <a:endParaRPr lang="en-US" sz="750" dirty="0"/>
          </a:p>
        </p:txBody>
      </p:sp>
      <p:sp>
        <p:nvSpPr>
          <p:cNvPr id="24" name="Shape 21"/>
          <p:cNvSpPr/>
          <p:nvPr/>
        </p:nvSpPr>
        <p:spPr>
          <a:xfrm>
            <a:off x="7132320" y="3666744"/>
            <a:ext cx="1005840" cy="228600"/>
          </a:xfrm>
          <a:prstGeom prst="roundRect">
            <a:avLst>
              <a:gd name="adj" fmla="val 20000"/>
            </a:avLst>
          </a:prstGeom>
          <a:solidFill>
            <a:srgbClr val="000000">
              <a:alpha val="70000"/>
            </a:srgbClr>
          </a:solidFill>
          <a:ln w="7620">
            <a:solidFill>
              <a:srgbClr val="FA947E"/>
            </a:solidFill>
            <a:prstDash val="solid"/>
          </a:ln>
        </p:spPr>
      </p:sp>
      <p:sp>
        <p:nvSpPr>
          <p:cNvPr id="25" name="Text 22"/>
          <p:cNvSpPr/>
          <p:nvPr/>
        </p:nvSpPr>
        <p:spPr>
          <a:xfrm>
            <a:off x="7132320" y="3666744"/>
            <a:ext cx="1005840" cy="228600"/>
          </a:xfrm>
          <a:prstGeom prst="rect">
            <a:avLst/>
          </a:prstGeom>
          <a:noFill/>
          <a:ln/>
        </p:spPr>
        <p:txBody>
          <a:bodyPr wrap="square" rtlCol="0" anchor="ctr"/>
          <a:lstStyle/>
          <a:p>
            <a:pPr algn="ctr" indent="0" marL="0">
              <a:buNone/>
            </a:pPr>
            <a:r>
              <a:rPr lang="en-US" sz="750" b="1" dirty="0">
                <a:solidFill>
                  <a:srgbClr val="FA947E"/>
                </a:solidFill>
                <a:latin typeface="Arial" pitchFamily="34" charset="0"/>
                <a:ea typeface="Arial" pitchFamily="34" charset="-122"/>
                <a:cs typeface="Arial" pitchFamily="34" charset="-120"/>
              </a:rPr>
              <a:t>Practical</a:t>
            </a:r>
            <a:endParaRPr lang="en-US" sz="750" dirty="0"/>
          </a:p>
        </p:txBody>
      </p:sp>
      <p:sp>
        <p:nvSpPr>
          <p:cNvPr id="26" name="Shape 23"/>
          <p:cNvSpPr/>
          <p:nvPr/>
        </p:nvSpPr>
        <p:spPr>
          <a:xfrm>
            <a:off x="3657600" y="4032504"/>
            <a:ext cx="4572000" cy="384048"/>
          </a:xfrm>
          <a:prstGeom prst="roundRect">
            <a:avLst>
              <a:gd name="adj" fmla="val 14286"/>
            </a:avLst>
          </a:prstGeom>
          <a:solidFill>
            <a:srgbClr val="4A101D"/>
          </a:solidFill>
          <a:ln w="10160">
            <a:solidFill>
              <a:srgbClr val="74182F"/>
            </a:solidFill>
            <a:prstDash val="solid"/>
          </a:ln>
        </p:spPr>
      </p:sp>
      <p:sp>
        <p:nvSpPr>
          <p:cNvPr id="27" name="Text 24"/>
          <p:cNvSpPr/>
          <p:nvPr/>
        </p:nvSpPr>
        <p:spPr>
          <a:xfrm>
            <a:off x="3794760" y="4069080"/>
            <a:ext cx="3291840" cy="18288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Capstone: Deploy Predictive API on Render with Documentation</a:t>
            </a:r>
            <a:endParaRPr lang="en-US" sz="900" dirty="0"/>
          </a:p>
        </p:txBody>
      </p:sp>
      <p:sp>
        <p:nvSpPr>
          <p:cNvPr id="28" name="Text 25"/>
          <p:cNvSpPr/>
          <p:nvPr/>
        </p:nvSpPr>
        <p:spPr>
          <a:xfrm>
            <a:off x="3794760" y="4233672"/>
            <a:ext cx="3291840" cy="146304"/>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1 week • Portfolio asset</a:t>
            </a:r>
            <a:endParaRPr lang="en-US" sz="750" dirty="0"/>
          </a:p>
        </p:txBody>
      </p:sp>
      <p:sp>
        <p:nvSpPr>
          <p:cNvPr id="29" name="Shape 26"/>
          <p:cNvSpPr/>
          <p:nvPr/>
        </p:nvSpPr>
        <p:spPr>
          <a:xfrm>
            <a:off x="7132320" y="4105656"/>
            <a:ext cx="1005840" cy="228600"/>
          </a:xfrm>
          <a:prstGeom prst="roundRect">
            <a:avLst>
              <a:gd name="adj" fmla="val 20000"/>
            </a:avLst>
          </a:prstGeom>
          <a:solidFill>
            <a:srgbClr val="000000">
              <a:alpha val="70000"/>
            </a:srgbClr>
          </a:solidFill>
          <a:ln w="7620">
            <a:solidFill>
              <a:srgbClr val="FA947E"/>
            </a:solidFill>
            <a:prstDash val="solid"/>
          </a:ln>
        </p:spPr>
      </p:sp>
      <p:sp>
        <p:nvSpPr>
          <p:cNvPr id="30" name="Text 27"/>
          <p:cNvSpPr/>
          <p:nvPr/>
        </p:nvSpPr>
        <p:spPr>
          <a:xfrm>
            <a:off x="7132320" y="4105656"/>
            <a:ext cx="1005840" cy="228600"/>
          </a:xfrm>
          <a:prstGeom prst="rect">
            <a:avLst/>
          </a:prstGeom>
          <a:noFill/>
          <a:ln/>
        </p:spPr>
        <p:txBody>
          <a:bodyPr wrap="square" rtlCol="0" anchor="ctr"/>
          <a:lstStyle/>
          <a:p>
            <a:pPr algn="ctr" indent="0" marL="0">
              <a:buNone/>
            </a:pPr>
            <a:r>
              <a:rPr lang="en-US" sz="750" b="1" dirty="0">
                <a:solidFill>
                  <a:srgbClr val="FA947E"/>
                </a:solidFill>
                <a:latin typeface="Arial" pitchFamily="34" charset="0"/>
                <a:ea typeface="Arial" pitchFamily="34" charset="-122"/>
                <a:cs typeface="Arial" pitchFamily="34" charset="-120"/>
              </a:rPr>
              <a:t>Proof of Work</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HACKATHON-READY AI ARCHITECTURE</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Production OpenRouter AI with Deterministic Fallbacks</a:t>
            </a:r>
            <a:endParaRPr lang="en-US" sz="2400" dirty="0"/>
          </a:p>
        </p:txBody>
      </p:sp>
      <p:pic>
        <p:nvPicPr>
          <p:cNvPr id="4" name="Image 0" descr="D:\hackathon\backend\assets\images\copilot_mentor.jpg">    </p:cNvPr>
          <p:cNvPicPr>
            <a:picLocks noChangeAspect="1"/>
          </p:cNvPicPr>
          <p:nvPr/>
        </p:nvPicPr>
        <p:blipFill>
          <a:blip r:embed="rId1"/>
          <a:stretch>
            <a:fillRect/>
          </a:stretch>
        </p:blipFill>
        <p:spPr>
          <a:xfrm>
            <a:off x="731520" y="1371600"/>
            <a:ext cx="2560320" cy="3200400"/>
          </a:xfrm>
          <a:prstGeom prst="ellipse">
            <a:avLst/>
          </a:prstGeom>
          <a:effectLst>
            <a:outerShdw sx="100000" sy="100000" kx="0" ky="0" algn="bl" rotWithShape="0" blurRad="5.628879460182276e+78" dist="2.814439730091138e+78" dir="1.6452712980283393e+93">
              <a:srgbClr val="000000">
                <a:alpha val="3.5e+94"/>
              </a:srgbClr>
            </a:outerShdw>
          </a:effectLst>
        </p:spPr>
      </p:pic>
      <p:sp>
        <p:nvSpPr>
          <p:cNvPr id="5" name="Shape 2"/>
          <p:cNvSpPr/>
          <p:nvPr/>
        </p:nvSpPr>
        <p:spPr>
          <a:xfrm>
            <a:off x="868680" y="4069080"/>
            <a:ext cx="2286000" cy="384048"/>
          </a:xfrm>
          <a:prstGeom prst="roundRect">
            <a:avLst>
              <a:gd name="adj" fmla="val 19048"/>
            </a:avLst>
          </a:prstGeom>
          <a:solidFill>
            <a:srgbClr val="000000">
              <a:alpha val="70000"/>
            </a:srgbClr>
          </a:solidFill>
          <a:ln w="12700">
            <a:solidFill>
              <a:srgbClr val="A855F7"/>
            </a:solidFill>
            <a:prstDash val="solid"/>
          </a:ln>
        </p:spPr>
      </p:sp>
      <p:sp>
        <p:nvSpPr>
          <p:cNvPr id="6" name="Text 3"/>
          <p:cNvSpPr/>
          <p:nvPr/>
        </p:nvSpPr>
        <p:spPr>
          <a:xfrm>
            <a:off x="914400" y="4069080"/>
            <a:ext cx="2194560" cy="384048"/>
          </a:xfrm>
          <a:prstGeom prst="rect">
            <a:avLst/>
          </a:prstGeom>
          <a:noFill/>
          <a:ln/>
        </p:spPr>
        <p:txBody>
          <a:bodyPr wrap="square" rtlCol="0" anchor="ctr"/>
          <a:lstStyle/>
          <a:p>
            <a:pPr algn="ctr" indent="0" marL="0">
              <a:buNone/>
            </a:pPr>
            <a:r>
              <a:rPr lang="en-US" sz="900" b="1" dirty="0">
                <a:solidFill>
                  <a:srgbClr val="D8B4FE"/>
                </a:solidFill>
                <a:latin typeface="Arial" pitchFamily="34" charset="0"/>
                <a:ea typeface="Arial" pitchFamily="34" charset="-122"/>
                <a:cs typeface="Arial" pitchFamily="34" charset="-120"/>
              </a:rPr>
              <a:t>Bilingual: Telugu &amp; English</a:t>
            </a:r>
            <a:endParaRPr lang="en-US" sz="900" dirty="0"/>
          </a:p>
        </p:txBody>
      </p:sp>
      <p:sp>
        <p:nvSpPr>
          <p:cNvPr id="7" name="Shape 4"/>
          <p:cNvSpPr/>
          <p:nvPr/>
        </p:nvSpPr>
        <p:spPr>
          <a:xfrm>
            <a:off x="3474720" y="1371600"/>
            <a:ext cx="4937760" cy="731520"/>
          </a:xfrm>
          <a:prstGeom prst="roundRect">
            <a:avLst>
              <a:gd name="adj" fmla="val 10000"/>
            </a:avLst>
          </a:prstGeom>
          <a:solidFill>
            <a:srgbClr val="151C2C"/>
          </a:solidFill>
          <a:ln w="12700">
            <a:solidFill>
              <a:srgbClr val="243048"/>
            </a:solidFill>
            <a:prstDash val="solid"/>
          </a:ln>
          <a:effectLst>
            <a:outerShdw sx="100000" sy="100000" kx="0" ky="0" algn="bl" rotWithShape="0" blurRad="7.14867691443149e+82" dist="3.574338457215745e+82" dir="9.871627788170035e+97">
              <a:srgbClr val="000000">
                <a:alpha val="3.5e+99"/>
              </a:srgbClr>
            </a:outerShdw>
          </a:effectLst>
        </p:spPr>
      </p:sp>
      <p:sp>
        <p:nvSpPr>
          <p:cNvPr id="8" name="Text 5"/>
          <p:cNvSpPr/>
          <p:nvPr/>
        </p:nvSpPr>
        <p:spPr>
          <a:xfrm>
            <a:off x="3657600" y="1444752"/>
            <a:ext cx="3474720" cy="228600"/>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OpenRouter Model Fallback Chain</a:t>
            </a:r>
            <a:endParaRPr lang="en-US" sz="1100" dirty="0"/>
          </a:p>
        </p:txBody>
      </p:sp>
      <p:sp>
        <p:nvSpPr>
          <p:cNvPr id="9" name="Shape 6"/>
          <p:cNvSpPr/>
          <p:nvPr/>
        </p:nvSpPr>
        <p:spPr>
          <a:xfrm>
            <a:off x="7040880" y="1444752"/>
            <a:ext cx="1234440" cy="201168"/>
          </a:xfrm>
          <a:prstGeom prst="roundRect">
            <a:avLst>
              <a:gd name="adj" fmla="val 22727"/>
            </a:avLst>
          </a:prstGeom>
          <a:solidFill>
            <a:srgbClr val="4A101D"/>
          </a:solidFill>
          <a:ln w="8890">
            <a:solidFill>
              <a:srgbClr val="74182F"/>
            </a:solidFill>
            <a:prstDash val="solid"/>
          </a:ln>
        </p:spPr>
      </p:sp>
      <p:sp>
        <p:nvSpPr>
          <p:cNvPr id="10" name="Text 7"/>
          <p:cNvSpPr/>
          <p:nvPr/>
        </p:nvSpPr>
        <p:spPr>
          <a:xfrm>
            <a:off x="7040880" y="1444752"/>
            <a:ext cx="1234440" cy="201168"/>
          </a:xfrm>
          <a:prstGeom prst="rect">
            <a:avLst/>
          </a:prstGeom>
          <a:noFill/>
          <a:ln/>
        </p:spPr>
        <p:txBody>
          <a:bodyPr wrap="square" rtlCol="0" anchor="ctr"/>
          <a:lstStyle/>
          <a:p>
            <a:pPr algn="ctr" indent="0" marL="0">
              <a:buNone/>
            </a:pPr>
            <a:r>
              <a:rPr lang="en-US" sz="750" b="1" dirty="0">
                <a:solidFill>
                  <a:srgbClr val="38BDF8"/>
                </a:solidFill>
                <a:latin typeface="Arial" pitchFamily="34" charset="0"/>
                <a:ea typeface="Arial" pitchFamily="34" charset="-122"/>
                <a:cs typeface="Arial" pitchFamily="34" charset="-120"/>
              </a:rPr>
              <a:t>High Availability</a:t>
            </a:r>
            <a:endParaRPr lang="en-US" sz="750" dirty="0"/>
          </a:p>
        </p:txBody>
      </p:sp>
      <p:sp>
        <p:nvSpPr>
          <p:cNvPr id="11" name="Text 8"/>
          <p:cNvSpPr/>
          <p:nvPr/>
        </p:nvSpPr>
        <p:spPr>
          <a:xfrm>
            <a:off x="3657600" y="1664208"/>
            <a:ext cx="4572000" cy="384048"/>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Calls OpenAI-compatible OpenRouter API. If the primary model hits 429 rate limit or quota exhaustion, it falls back instantly to secondary models in the chain.</a:t>
            </a:r>
            <a:endParaRPr lang="en-US" sz="850" dirty="0"/>
          </a:p>
        </p:txBody>
      </p:sp>
      <p:sp>
        <p:nvSpPr>
          <p:cNvPr id="12" name="Shape 9"/>
          <p:cNvSpPr/>
          <p:nvPr/>
        </p:nvSpPr>
        <p:spPr>
          <a:xfrm>
            <a:off x="3474720" y="2176272"/>
            <a:ext cx="4937760" cy="731520"/>
          </a:xfrm>
          <a:prstGeom prst="roundRect">
            <a:avLst>
              <a:gd name="adj" fmla="val 10000"/>
            </a:avLst>
          </a:prstGeom>
          <a:solidFill>
            <a:srgbClr val="151C2C"/>
          </a:solidFill>
          <a:ln w="12700">
            <a:solidFill>
              <a:srgbClr val="243048"/>
            </a:solidFill>
            <a:prstDash val="solid"/>
          </a:ln>
          <a:effectLst>
            <a:outerShdw sx="100000" sy="100000" kx="0" ky="0" algn="bl" rotWithShape="0" blurRad="9.078819681327992e+86" dist="4.539409840663996e+86" dir="5.922976672902021e+102">
              <a:srgbClr val="000000">
                <a:alpha val="3.4999999999999995e+104"/>
              </a:srgbClr>
            </a:outerShdw>
          </a:effectLst>
        </p:spPr>
      </p:sp>
      <p:sp>
        <p:nvSpPr>
          <p:cNvPr id="13" name="Text 10"/>
          <p:cNvSpPr/>
          <p:nvPr/>
        </p:nvSpPr>
        <p:spPr>
          <a:xfrm>
            <a:off x="3657600" y="2249424"/>
            <a:ext cx="3474720" cy="228600"/>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100% Offline Demo Mode (AI_DEMO_MODE=true)</a:t>
            </a:r>
            <a:endParaRPr lang="en-US" sz="1100" dirty="0"/>
          </a:p>
        </p:txBody>
      </p:sp>
      <p:sp>
        <p:nvSpPr>
          <p:cNvPr id="14" name="Shape 11"/>
          <p:cNvSpPr/>
          <p:nvPr/>
        </p:nvSpPr>
        <p:spPr>
          <a:xfrm>
            <a:off x="7040880" y="2249424"/>
            <a:ext cx="1234440" cy="201168"/>
          </a:xfrm>
          <a:prstGeom prst="roundRect">
            <a:avLst>
              <a:gd name="adj" fmla="val 22727"/>
            </a:avLst>
          </a:prstGeom>
          <a:solidFill>
            <a:srgbClr val="4A101D"/>
          </a:solidFill>
          <a:ln w="8890">
            <a:solidFill>
              <a:srgbClr val="74182F"/>
            </a:solidFill>
            <a:prstDash val="solid"/>
          </a:ln>
        </p:spPr>
      </p:sp>
      <p:sp>
        <p:nvSpPr>
          <p:cNvPr id="15" name="Text 12"/>
          <p:cNvSpPr/>
          <p:nvPr/>
        </p:nvSpPr>
        <p:spPr>
          <a:xfrm>
            <a:off x="7040880" y="2249424"/>
            <a:ext cx="1234440" cy="201168"/>
          </a:xfrm>
          <a:prstGeom prst="rect">
            <a:avLst/>
          </a:prstGeom>
          <a:noFill/>
          <a:ln/>
        </p:spPr>
        <p:txBody>
          <a:bodyPr wrap="square" rtlCol="0" anchor="ctr"/>
          <a:lstStyle/>
          <a:p>
            <a:pPr algn="ctr" indent="0" marL="0">
              <a:buNone/>
            </a:pPr>
            <a:r>
              <a:rPr lang="en-US" sz="750" b="1" dirty="0">
                <a:solidFill>
                  <a:srgbClr val="10B981"/>
                </a:solidFill>
                <a:latin typeface="Arial" pitchFamily="34" charset="0"/>
                <a:ea typeface="Arial" pitchFamily="34" charset="-122"/>
                <a:cs typeface="Arial" pitchFamily="34" charset="-120"/>
              </a:rPr>
              <a:t>Stage Reliability</a:t>
            </a:r>
            <a:endParaRPr lang="en-US" sz="750" dirty="0"/>
          </a:p>
        </p:txBody>
      </p:sp>
      <p:sp>
        <p:nvSpPr>
          <p:cNvPr id="16" name="Text 13"/>
          <p:cNvSpPr/>
          <p:nvPr/>
        </p:nvSpPr>
        <p:spPr>
          <a:xfrm>
            <a:off x="3657600" y="2468880"/>
            <a:ext cx="4572000" cy="384048"/>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Guarantees the pitch will never fail even if Wi-Fi drops. 5 pre-validated golden prompts answer seamlessly with zero external API calls.</a:t>
            </a:r>
            <a:endParaRPr lang="en-US" sz="850" dirty="0"/>
          </a:p>
        </p:txBody>
      </p:sp>
      <p:sp>
        <p:nvSpPr>
          <p:cNvPr id="17" name="Shape 14"/>
          <p:cNvSpPr/>
          <p:nvPr/>
        </p:nvSpPr>
        <p:spPr>
          <a:xfrm>
            <a:off x="3474720" y="2980944"/>
            <a:ext cx="4937760" cy="731520"/>
          </a:xfrm>
          <a:prstGeom prst="roundRect">
            <a:avLst>
              <a:gd name="adj" fmla="val 10000"/>
            </a:avLst>
          </a:prstGeom>
          <a:solidFill>
            <a:srgbClr val="151C2C"/>
          </a:solidFill>
          <a:ln w="12700">
            <a:solidFill>
              <a:srgbClr val="243048"/>
            </a:solidFill>
            <a:prstDash val="solid"/>
          </a:ln>
          <a:effectLst>
            <a:outerShdw sx="100000" sy="100000" kx="0" ky="0" algn="bl" rotWithShape="0" blurRad="1.153010099528655e+91" dist="5.765050497643275e+90" dir="3.5537860037412126e+107">
              <a:srgbClr val="000000">
                <a:alpha val="3.4999999999999994e+109"/>
              </a:srgbClr>
            </a:outerShdw>
          </a:effectLst>
        </p:spPr>
      </p:sp>
      <p:sp>
        <p:nvSpPr>
          <p:cNvPr id="18" name="Text 15"/>
          <p:cNvSpPr/>
          <p:nvPr/>
        </p:nvSpPr>
        <p:spPr>
          <a:xfrm>
            <a:off x="3657600" y="3054096"/>
            <a:ext cx="3474720" cy="228600"/>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Zero PII Leakage Privacy Guard</a:t>
            </a:r>
            <a:endParaRPr lang="en-US" sz="1100" dirty="0"/>
          </a:p>
        </p:txBody>
      </p:sp>
      <p:sp>
        <p:nvSpPr>
          <p:cNvPr id="19" name="Shape 16"/>
          <p:cNvSpPr/>
          <p:nvPr/>
        </p:nvSpPr>
        <p:spPr>
          <a:xfrm>
            <a:off x="7040880" y="3054096"/>
            <a:ext cx="1234440" cy="201168"/>
          </a:xfrm>
          <a:prstGeom prst="roundRect">
            <a:avLst>
              <a:gd name="adj" fmla="val 22727"/>
            </a:avLst>
          </a:prstGeom>
          <a:solidFill>
            <a:srgbClr val="4A101D"/>
          </a:solidFill>
          <a:ln w="8890">
            <a:solidFill>
              <a:srgbClr val="74182F"/>
            </a:solidFill>
            <a:prstDash val="solid"/>
          </a:ln>
        </p:spPr>
      </p:sp>
      <p:sp>
        <p:nvSpPr>
          <p:cNvPr id="20" name="Text 17"/>
          <p:cNvSpPr/>
          <p:nvPr/>
        </p:nvSpPr>
        <p:spPr>
          <a:xfrm>
            <a:off x="7040880" y="3054096"/>
            <a:ext cx="1234440" cy="201168"/>
          </a:xfrm>
          <a:prstGeom prst="rect">
            <a:avLst/>
          </a:prstGeom>
          <a:noFill/>
          <a:ln/>
        </p:spPr>
        <p:txBody>
          <a:bodyPr wrap="square" rtlCol="0" anchor="ctr"/>
          <a:lstStyle/>
          <a:p>
            <a:pPr algn="ctr" indent="0" marL="0">
              <a:buNone/>
            </a:pPr>
            <a:r>
              <a:rPr lang="en-US" sz="750" b="1" dirty="0">
                <a:solidFill>
                  <a:srgbClr val="FBBF24"/>
                </a:solidFill>
                <a:latin typeface="Arial" pitchFamily="34" charset="0"/>
                <a:ea typeface="Arial" pitchFamily="34" charset="-122"/>
                <a:cs typeface="Arial" pitchFamily="34" charset="-120"/>
              </a:rPr>
              <a:t>Student Privacy</a:t>
            </a:r>
            <a:endParaRPr lang="en-US" sz="750" dirty="0"/>
          </a:p>
        </p:txBody>
      </p:sp>
      <p:sp>
        <p:nvSpPr>
          <p:cNvPr id="21" name="Text 18"/>
          <p:cNvSpPr/>
          <p:nvPr/>
        </p:nvSpPr>
        <p:spPr>
          <a:xfrm>
            <a:off x="3657600" y="3273552"/>
            <a:ext cx="4572000" cy="384048"/>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No student names, emails, phone numbers, or exact financial figures are ever passed into LLM prompts. Only anonymized academic and skill tags are transmitted.</a:t>
            </a:r>
            <a:endParaRPr lang="en-US" sz="850" dirty="0"/>
          </a:p>
        </p:txBody>
      </p:sp>
      <p:sp>
        <p:nvSpPr>
          <p:cNvPr id="22" name="Shape 19"/>
          <p:cNvSpPr/>
          <p:nvPr/>
        </p:nvSpPr>
        <p:spPr>
          <a:xfrm>
            <a:off x="3474720" y="3785616"/>
            <a:ext cx="4937760" cy="731520"/>
          </a:xfrm>
          <a:prstGeom prst="roundRect">
            <a:avLst>
              <a:gd name="adj" fmla="val 10000"/>
            </a:avLst>
          </a:prstGeom>
          <a:solidFill>
            <a:srgbClr val="151C2C"/>
          </a:solidFill>
          <a:ln w="12700">
            <a:solidFill>
              <a:srgbClr val="243048"/>
            </a:solidFill>
            <a:prstDash val="solid"/>
          </a:ln>
          <a:effectLst>
            <a:outerShdw sx="100000" sy="100000" kx="0" ky="0" algn="bl" rotWithShape="0" blurRad="1.4643228264013918e+95" dist="7.321614132006959e+94" dir="2.1322716022447277e+112">
              <a:srgbClr val="000000">
                <a:alpha val="3.4999999999999995e+114"/>
              </a:srgbClr>
            </a:outerShdw>
          </a:effectLst>
        </p:spPr>
      </p:sp>
      <p:sp>
        <p:nvSpPr>
          <p:cNvPr id="23" name="Text 20"/>
          <p:cNvSpPr/>
          <p:nvPr/>
        </p:nvSpPr>
        <p:spPr>
          <a:xfrm>
            <a:off x="3657600" y="3858768"/>
            <a:ext cx="3474720" cy="228600"/>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Anti-Hallucination Verification Layer</a:t>
            </a:r>
            <a:endParaRPr lang="en-US" sz="1100" dirty="0"/>
          </a:p>
        </p:txBody>
      </p:sp>
      <p:sp>
        <p:nvSpPr>
          <p:cNvPr id="24" name="Shape 21"/>
          <p:cNvSpPr/>
          <p:nvPr/>
        </p:nvSpPr>
        <p:spPr>
          <a:xfrm>
            <a:off x="7040880" y="3858768"/>
            <a:ext cx="1234440" cy="201168"/>
          </a:xfrm>
          <a:prstGeom prst="roundRect">
            <a:avLst>
              <a:gd name="adj" fmla="val 22727"/>
            </a:avLst>
          </a:prstGeom>
          <a:solidFill>
            <a:srgbClr val="4A101D"/>
          </a:solidFill>
          <a:ln w="8890">
            <a:solidFill>
              <a:srgbClr val="74182F"/>
            </a:solidFill>
            <a:prstDash val="solid"/>
          </a:ln>
        </p:spPr>
      </p:sp>
      <p:sp>
        <p:nvSpPr>
          <p:cNvPr id="25" name="Text 22"/>
          <p:cNvSpPr/>
          <p:nvPr/>
        </p:nvSpPr>
        <p:spPr>
          <a:xfrm>
            <a:off x="7040880" y="3858768"/>
            <a:ext cx="1234440" cy="201168"/>
          </a:xfrm>
          <a:prstGeom prst="rect">
            <a:avLst/>
          </a:prstGeom>
          <a:noFill/>
          <a:ln/>
        </p:spPr>
        <p:txBody>
          <a:bodyPr wrap="square" rtlCol="0" anchor="ctr"/>
          <a:lstStyle/>
          <a:p>
            <a:pPr algn="ctr" indent="0" marL="0">
              <a:buNone/>
            </a:pPr>
            <a:r>
              <a:rPr lang="en-US" sz="750" b="1" dirty="0">
                <a:solidFill>
                  <a:srgbClr val="FA947E"/>
                </a:solidFill>
                <a:latin typeface="Arial" pitchFamily="34" charset="0"/>
                <a:ea typeface="Arial" pitchFamily="34" charset="-122"/>
                <a:cs typeface="Arial" pitchFamily="34" charset="-120"/>
              </a:rPr>
              <a:t>Truth Verified</a:t>
            </a:r>
            <a:endParaRPr lang="en-US" sz="750" dirty="0"/>
          </a:p>
        </p:txBody>
      </p:sp>
      <p:sp>
        <p:nvSpPr>
          <p:cNvPr id="26" name="Text 23"/>
          <p:cNvSpPr/>
          <p:nvPr/>
        </p:nvSpPr>
        <p:spPr>
          <a:xfrm>
            <a:off x="3657600" y="4078224"/>
            <a:ext cx="4572000" cy="384048"/>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All dates, scheme names, and financial amounts generated in AI explanations are verified against the authoritative database record before rendering in UI.</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COMPLETING THE CAREER CYCLE</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ATS Resume Builder &amp; Kanban Application Tracker</a:t>
            </a:r>
            <a:endParaRPr lang="en-US" sz="2400" dirty="0"/>
          </a:p>
        </p:txBody>
      </p:sp>
      <p:sp>
        <p:nvSpPr>
          <p:cNvPr id="4" name="Shape 2"/>
          <p:cNvSpPr/>
          <p:nvPr/>
        </p:nvSpPr>
        <p:spPr>
          <a:xfrm>
            <a:off x="731520" y="1371600"/>
            <a:ext cx="3657600" cy="3200400"/>
          </a:xfrm>
          <a:prstGeom prst="roundRect">
            <a:avLst>
              <a:gd name="adj" fmla="val 3429"/>
            </a:avLst>
          </a:prstGeom>
          <a:solidFill>
            <a:srgbClr val="151C2C"/>
          </a:solidFill>
          <a:ln w="12700">
            <a:solidFill>
              <a:srgbClr val="243048"/>
            </a:solidFill>
            <a:prstDash val="solid"/>
          </a:ln>
          <a:effectLst>
            <a:outerShdw sx="100000" sy="100000" kx="0" ky="0" algn="bl" rotWithShape="0" blurRad="1.8596899895297677e+99" dist="9.298449947648839e+98" dir="1.2793629613468367e+117">
              <a:srgbClr val="000000">
                <a:alpha val="3.499999999999999e+119"/>
              </a:srgbClr>
            </a:outerShdw>
          </a:effectLst>
        </p:spPr>
      </p:sp>
      <p:sp>
        <p:nvSpPr>
          <p:cNvPr id="5" name="Text 3"/>
          <p:cNvSpPr/>
          <p:nvPr/>
        </p:nvSpPr>
        <p:spPr>
          <a:xfrm>
            <a:off x="914400" y="1554480"/>
            <a:ext cx="3291840" cy="320040"/>
          </a:xfrm>
          <a:prstGeom prst="rect">
            <a:avLst/>
          </a:prstGeom>
          <a:noFill/>
          <a:ln/>
        </p:spPr>
        <p:txBody>
          <a:bodyPr wrap="square" rtlCol="0" anchor="ctr"/>
          <a:lstStyle/>
          <a:p>
            <a:pPr indent="0" marL="0">
              <a:buNone/>
            </a:pPr>
            <a:r>
              <a:rPr lang="en-US" sz="1300" b="1" dirty="0">
                <a:solidFill>
                  <a:srgbClr val="FA947E"/>
                </a:solidFill>
                <a:latin typeface="Trebuchet MS" pitchFamily="34" charset="0"/>
                <a:ea typeface="Trebuchet MS" pitchFamily="34" charset="-122"/>
                <a:cs typeface="Trebuchet MS" pitchFamily="34" charset="-120"/>
              </a:rPr>
              <a:t>ATS Heuristic Resume Engine</a:t>
            </a:r>
            <a:endParaRPr lang="en-US" sz="1300" dirty="0"/>
          </a:p>
        </p:txBody>
      </p:sp>
      <p:sp>
        <p:nvSpPr>
          <p:cNvPr id="6" name="Shape 4"/>
          <p:cNvSpPr/>
          <p:nvPr/>
        </p:nvSpPr>
        <p:spPr>
          <a:xfrm>
            <a:off x="914400" y="1965960"/>
            <a:ext cx="3291840" cy="685800"/>
          </a:xfrm>
          <a:prstGeom prst="roundRect">
            <a:avLst>
              <a:gd name="adj" fmla="val 10667"/>
            </a:avLst>
          </a:prstGeom>
          <a:solidFill>
            <a:srgbClr val="101726"/>
          </a:solidFill>
          <a:ln w="10160">
            <a:solidFill>
              <a:srgbClr val="243048"/>
            </a:solidFill>
            <a:prstDash val="solid"/>
          </a:ln>
        </p:spPr>
      </p:sp>
      <p:sp>
        <p:nvSpPr>
          <p:cNvPr id="7" name="Text 5"/>
          <p:cNvSpPr/>
          <p:nvPr/>
        </p:nvSpPr>
        <p:spPr>
          <a:xfrm>
            <a:off x="1051560" y="2039112"/>
            <a:ext cx="3017520" cy="201168"/>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Role-Specific Keyword Analysis</a:t>
            </a:r>
            <a:endParaRPr lang="en-US" sz="950" dirty="0"/>
          </a:p>
        </p:txBody>
      </p:sp>
      <p:sp>
        <p:nvSpPr>
          <p:cNvPr id="8" name="Text 6"/>
          <p:cNvSpPr/>
          <p:nvPr/>
        </p:nvSpPr>
        <p:spPr>
          <a:xfrm>
            <a:off x="1051560" y="2240280"/>
            <a:ext cx="3017520" cy="365760"/>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Compares student projects and coursework against targeted internship JD requirements.</a:t>
            </a:r>
            <a:endParaRPr lang="en-US" sz="850" dirty="0"/>
          </a:p>
        </p:txBody>
      </p:sp>
      <p:sp>
        <p:nvSpPr>
          <p:cNvPr id="9" name="Shape 7"/>
          <p:cNvSpPr/>
          <p:nvPr/>
        </p:nvSpPr>
        <p:spPr>
          <a:xfrm>
            <a:off x="914400" y="2743200"/>
            <a:ext cx="3291840" cy="685800"/>
          </a:xfrm>
          <a:prstGeom prst="roundRect">
            <a:avLst>
              <a:gd name="adj" fmla="val 10667"/>
            </a:avLst>
          </a:prstGeom>
          <a:solidFill>
            <a:srgbClr val="101726"/>
          </a:solidFill>
          <a:ln w="10160">
            <a:solidFill>
              <a:srgbClr val="243048"/>
            </a:solidFill>
            <a:prstDash val="solid"/>
          </a:ln>
        </p:spPr>
      </p:sp>
      <p:sp>
        <p:nvSpPr>
          <p:cNvPr id="10" name="Text 8"/>
          <p:cNvSpPr/>
          <p:nvPr/>
        </p:nvSpPr>
        <p:spPr>
          <a:xfrm>
            <a:off x="1051560" y="2816352"/>
            <a:ext cx="3017520" cy="201168"/>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Formatting &amp; Length Checks</a:t>
            </a:r>
            <a:endParaRPr lang="en-US" sz="950" dirty="0"/>
          </a:p>
        </p:txBody>
      </p:sp>
      <p:sp>
        <p:nvSpPr>
          <p:cNvPr id="11" name="Text 9"/>
          <p:cNvSpPr/>
          <p:nvPr/>
        </p:nvSpPr>
        <p:spPr>
          <a:xfrm>
            <a:off x="1051560" y="3017520"/>
            <a:ext cx="3017520" cy="365760"/>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Warns against tables, multi-column layouts, and unreadable graphics that trip enterprise ATS parsers.</a:t>
            </a:r>
            <a:endParaRPr lang="en-US" sz="850" dirty="0"/>
          </a:p>
        </p:txBody>
      </p:sp>
      <p:sp>
        <p:nvSpPr>
          <p:cNvPr id="12" name="Shape 10"/>
          <p:cNvSpPr/>
          <p:nvPr/>
        </p:nvSpPr>
        <p:spPr>
          <a:xfrm>
            <a:off x="914400" y="3520440"/>
            <a:ext cx="3291840" cy="685800"/>
          </a:xfrm>
          <a:prstGeom prst="roundRect">
            <a:avLst>
              <a:gd name="adj" fmla="val 10667"/>
            </a:avLst>
          </a:prstGeom>
          <a:solidFill>
            <a:srgbClr val="101726"/>
          </a:solidFill>
          <a:ln w="10160">
            <a:solidFill>
              <a:srgbClr val="243048"/>
            </a:solidFill>
            <a:prstDash val="solid"/>
          </a:ln>
        </p:spPr>
      </p:sp>
      <p:sp>
        <p:nvSpPr>
          <p:cNvPr id="13" name="Text 11"/>
          <p:cNvSpPr/>
          <p:nvPr/>
        </p:nvSpPr>
        <p:spPr>
          <a:xfrm>
            <a:off x="1051560" y="3593592"/>
            <a:ext cx="3017520" cy="201168"/>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Production PDFKit Export</a:t>
            </a:r>
            <a:endParaRPr lang="en-US" sz="950" dirty="0"/>
          </a:p>
        </p:txBody>
      </p:sp>
      <p:sp>
        <p:nvSpPr>
          <p:cNvPr id="14" name="Text 12"/>
          <p:cNvSpPr/>
          <p:nvPr/>
        </p:nvSpPr>
        <p:spPr>
          <a:xfrm>
            <a:off x="1051560" y="3794760"/>
            <a:ext cx="3017520" cy="365760"/>
          </a:xfrm>
          <a:prstGeom prst="rect">
            <a:avLst/>
          </a:prstGeom>
          <a:noFill/>
          <a:ln/>
        </p:spPr>
        <p:txBody>
          <a:bodyPr wrap="square" rtlCol="0" anchor="ctr"/>
          <a:lstStyle/>
          <a:p>
            <a:pPr indent="0" marL="0">
              <a:lnSpc>
                <a:spcPct val="110000"/>
              </a:lnSpc>
              <a:buNone/>
            </a:pPr>
            <a:r>
              <a:rPr lang="en-US" sz="850" dirty="0">
                <a:solidFill>
                  <a:srgbClr val="94A3B8"/>
                </a:solidFill>
                <a:latin typeface="Arial" pitchFamily="34" charset="0"/>
                <a:ea typeface="Arial" pitchFamily="34" charset="-122"/>
                <a:cs typeface="Arial" pitchFamily="34" charset="-120"/>
              </a:rPr>
              <a:t>Generates clean, selectable, single-page vector PDFs directly from database profile with 1 click.</a:t>
            </a:r>
            <a:endParaRPr lang="en-US" sz="850" dirty="0"/>
          </a:p>
        </p:txBody>
      </p:sp>
      <p:sp>
        <p:nvSpPr>
          <p:cNvPr id="15" name="Shape 13"/>
          <p:cNvSpPr/>
          <p:nvPr/>
        </p:nvSpPr>
        <p:spPr>
          <a:xfrm>
            <a:off x="4754880" y="1371600"/>
            <a:ext cx="3657600" cy="3200400"/>
          </a:xfrm>
          <a:prstGeom prst="roundRect">
            <a:avLst>
              <a:gd name="adj" fmla="val 3429"/>
            </a:avLst>
          </a:prstGeom>
          <a:solidFill>
            <a:srgbClr val="151C2C"/>
          </a:solidFill>
          <a:ln w="12700">
            <a:solidFill>
              <a:srgbClr val="243048"/>
            </a:solidFill>
            <a:prstDash val="solid"/>
          </a:ln>
          <a:effectLst>
            <a:outerShdw sx="100000" sy="100000" kx="0" ky="0" algn="bl" rotWithShape="0" blurRad="2.361806286702805e+103" dist="1.1809031433514024e+103" dir="7.67617776808102e+121">
              <a:srgbClr val="000000">
                <a:alpha val="3.499999999999999e+124"/>
              </a:srgbClr>
            </a:outerShdw>
          </a:effectLst>
        </p:spPr>
      </p:sp>
      <p:sp>
        <p:nvSpPr>
          <p:cNvPr id="16" name="Text 14"/>
          <p:cNvSpPr/>
          <p:nvPr/>
        </p:nvSpPr>
        <p:spPr>
          <a:xfrm>
            <a:off x="4937760" y="1554480"/>
            <a:ext cx="3291840" cy="320040"/>
          </a:xfrm>
          <a:prstGeom prst="rect">
            <a:avLst/>
          </a:prstGeom>
          <a:noFill/>
          <a:ln/>
        </p:spPr>
        <p:txBody>
          <a:bodyPr wrap="square" rtlCol="0" anchor="ctr"/>
          <a:lstStyle/>
          <a:p>
            <a:pPr indent="0" marL="0">
              <a:buNone/>
            </a:pPr>
            <a:r>
              <a:rPr lang="en-US" sz="1300" b="1" dirty="0">
                <a:solidFill>
                  <a:srgbClr val="38BDF8"/>
                </a:solidFill>
                <a:latin typeface="Trebuchet MS" pitchFamily="34" charset="0"/>
                <a:ea typeface="Trebuchet MS" pitchFamily="34" charset="-122"/>
                <a:cs typeface="Trebuchet MS" pitchFamily="34" charset="-120"/>
              </a:rPr>
              <a:t>Application Radar &amp; Kanban Tracker</a:t>
            </a:r>
            <a:endParaRPr lang="en-US" sz="1300" dirty="0"/>
          </a:p>
        </p:txBody>
      </p:sp>
      <p:sp>
        <p:nvSpPr>
          <p:cNvPr id="17" name="Shape 15"/>
          <p:cNvSpPr/>
          <p:nvPr/>
        </p:nvSpPr>
        <p:spPr>
          <a:xfrm>
            <a:off x="4937760" y="1965960"/>
            <a:ext cx="3291840" cy="502920"/>
          </a:xfrm>
          <a:prstGeom prst="roundRect">
            <a:avLst>
              <a:gd name="adj" fmla="val 10909"/>
            </a:avLst>
          </a:prstGeom>
          <a:solidFill>
            <a:srgbClr val="4A101D"/>
          </a:solidFill>
          <a:ln w="10160">
            <a:solidFill>
              <a:srgbClr val="74182F"/>
            </a:solidFill>
            <a:prstDash val="solid"/>
          </a:ln>
        </p:spPr>
      </p:sp>
      <p:sp>
        <p:nvSpPr>
          <p:cNvPr id="18" name="Text 16"/>
          <p:cNvSpPr/>
          <p:nvPr/>
        </p:nvSpPr>
        <p:spPr>
          <a:xfrm>
            <a:off x="5074920" y="2020824"/>
            <a:ext cx="2011680" cy="201168"/>
          </a:xfrm>
          <a:prstGeom prst="rect">
            <a:avLst/>
          </a:prstGeom>
          <a:noFill/>
          <a:ln/>
        </p:spPr>
        <p:txBody>
          <a:bodyPr wrap="square" rtlCol="0" anchor="ctr"/>
          <a:lstStyle/>
          <a:p>
            <a:pPr indent="0" marL="0">
              <a:buNone/>
            </a:pPr>
            <a:r>
              <a:rPr lang="en-US" sz="950" b="1" dirty="0">
                <a:solidFill>
                  <a:srgbClr val="94A3B8"/>
                </a:solidFill>
                <a:latin typeface="Trebuchet MS" pitchFamily="34" charset="0"/>
                <a:ea typeface="Trebuchet MS" pitchFamily="34" charset="-122"/>
                <a:cs typeface="Trebuchet MS" pitchFamily="34" charset="-120"/>
              </a:rPr>
              <a:t>To Apply (3)</a:t>
            </a:r>
            <a:endParaRPr lang="en-US" sz="950" dirty="0"/>
          </a:p>
        </p:txBody>
      </p:sp>
      <p:sp>
        <p:nvSpPr>
          <p:cNvPr id="19" name="Text 17"/>
          <p:cNvSpPr/>
          <p:nvPr/>
        </p:nvSpPr>
        <p:spPr>
          <a:xfrm>
            <a:off x="5074920" y="2221992"/>
            <a:ext cx="3017520" cy="182880"/>
          </a:xfrm>
          <a:prstGeom prst="rect">
            <a:avLst/>
          </a:prstGeom>
          <a:noFill/>
          <a:ln/>
        </p:spPr>
        <p:txBody>
          <a:bodyPr wrap="square" rtlCol="0" anchor="ctr"/>
          <a:lstStyle/>
          <a:p>
            <a:pPr indent="0" marL="0">
              <a:buNone/>
            </a:pPr>
            <a:r>
              <a:rPr lang="en-US" sz="800" dirty="0">
                <a:solidFill>
                  <a:srgbClr val="E2E8F0"/>
                </a:solidFill>
                <a:latin typeface="Arial" pitchFamily="34" charset="0"/>
                <a:ea typeface="Arial" pitchFamily="34" charset="-122"/>
                <a:cs typeface="Arial" pitchFamily="34" charset="-120"/>
              </a:rPr>
              <a:t>AICTE Swanath, Google STEP</a:t>
            </a:r>
            <a:endParaRPr lang="en-US" sz="800" dirty="0"/>
          </a:p>
        </p:txBody>
      </p:sp>
      <p:sp>
        <p:nvSpPr>
          <p:cNvPr id="20" name="Shape 18"/>
          <p:cNvSpPr/>
          <p:nvPr/>
        </p:nvSpPr>
        <p:spPr>
          <a:xfrm>
            <a:off x="4937760" y="2560320"/>
            <a:ext cx="3291840" cy="502920"/>
          </a:xfrm>
          <a:prstGeom prst="roundRect">
            <a:avLst>
              <a:gd name="adj" fmla="val 10909"/>
            </a:avLst>
          </a:prstGeom>
          <a:solidFill>
            <a:srgbClr val="4A101D"/>
          </a:solidFill>
          <a:ln w="10160">
            <a:solidFill>
              <a:srgbClr val="74182F"/>
            </a:solidFill>
            <a:prstDash val="solid"/>
          </a:ln>
        </p:spPr>
      </p:sp>
      <p:sp>
        <p:nvSpPr>
          <p:cNvPr id="21" name="Text 19"/>
          <p:cNvSpPr/>
          <p:nvPr/>
        </p:nvSpPr>
        <p:spPr>
          <a:xfrm>
            <a:off x="5074920" y="2615184"/>
            <a:ext cx="2011680" cy="201168"/>
          </a:xfrm>
          <a:prstGeom prst="rect">
            <a:avLst/>
          </a:prstGeom>
          <a:noFill/>
          <a:ln/>
        </p:spPr>
        <p:txBody>
          <a:bodyPr wrap="square" rtlCol="0" anchor="ctr"/>
          <a:lstStyle/>
          <a:p>
            <a:pPr indent="0" marL="0">
              <a:buNone/>
            </a:pPr>
            <a:r>
              <a:rPr lang="en-US" sz="950" b="1" dirty="0">
                <a:solidFill>
                  <a:srgbClr val="38BDF8"/>
                </a:solidFill>
                <a:latin typeface="Trebuchet MS" pitchFamily="34" charset="0"/>
                <a:ea typeface="Trebuchet MS" pitchFamily="34" charset="-122"/>
                <a:cs typeface="Trebuchet MS" pitchFamily="34" charset="-120"/>
              </a:rPr>
              <a:t>Applied (4)</a:t>
            </a:r>
            <a:endParaRPr lang="en-US" sz="950" dirty="0"/>
          </a:p>
        </p:txBody>
      </p:sp>
      <p:sp>
        <p:nvSpPr>
          <p:cNvPr id="22" name="Text 20"/>
          <p:cNvSpPr/>
          <p:nvPr/>
        </p:nvSpPr>
        <p:spPr>
          <a:xfrm>
            <a:off x="5074920" y="2816352"/>
            <a:ext cx="3017520" cy="182880"/>
          </a:xfrm>
          <a:prstGeom prst="rect">
            <a:avLst/>
          </a:prstGeom>
          <a:noFill/>
          <a:ln/>
        </p:spPr>
        <p:txBody>
          <a:bodyPr wrap="square" rtlCol="0" anchor="ctr"/>
          <a:lstStyle/>
          <a:p>
            <a:pPr indent="0" marL="0">
              <a:buNone/>
            </a:pPr>
            <a:r>
              <a:rPr lang="en-US" sz="800" dirty="0">
                <a:solidFill>
                  <a:srgbClr val="E2E8F0"/>
                </a:solidFill>
                <a:latin typeface="Arial" pitchFamily="34" charset="0"/>
                <a:ea typeface="Arial" pitchFamily="34" charset="-122"/>
                <a:cs typeface="Arial" pitchFamily="34" charset="-120"/>
              </a:rPr>
              <a:t>TCS Research Intern, Post-Matric</a:t>
            </a:r>
            <a:endParaRPr lang="en-US" sz="800" dirty="0"/>
          </a:p>
        </p:txBody>
      </p:sp>
      <p:sp>
        <p:nvSpPr>
          <p:cNvPr id="23" name="Shape 21"/>
          <p:cNvSpPr/>
          <p:nvPr/>
        </p:nvSpPr>
        <p:spPr>
          <a:xfrm>
            <a:off x="4937760" y="3154680"/>
            <a:ext cx="3291840" cy="502920"/>
          </a:xfrm>
          <a:prstGeom prst="roundRect">
            <a:avLst>
              <a:gd name="adj" fmla="val 10909"/>
            </a:avLst>
          </a:prstGeom>
          <a:solidFill>
            <a:srgbClr val="4A101D"/>
          </a:solidFill>
          <a:ln w="10160">
            <a:solidFill>
              <a:srgbClr val="74182F"/>
            </a:solidFill>
            <a:prstDash val="solid"/>
          </a:ln>
        </p:spPr>
      </p:sp>
      <p:sp>
        <p:nvSpPr>
          <p:cNvPr id="24" name="Text 22"/>
          <p:cNvSpPr/>
          <p:nvPr/>
        </p:nvSpPr>
        <p:spPr>
          <a:xfrm>
            <a:off x="5074920" y="3209544"/>
            <a:ext cx="2011680" cy="201168"/>
          </a:xfrm>
          <a:prstGeom prst="rect">
            <a:avLst/>
          </a:prstGeom>
          <a:noFill/>
          <a:ln/>
        </p:spPr>
        <p:txBody>
          <a:bodyPr wrap="square" rtlCol="0" anchor="ctr"/>
          <a:lstStyle/>
          <a:p>
            <a:pPr indent="0" marL="0">
              <a:buNone/>
            </a:pPr>
            <a:r>
              <a:rPr lang="en-US" sz="950" b="1" dirty="0">
                <a:solidFill>
                  <a:srgbClr val="FBBF24"/>
                </a:solidFill>
                <a:latin typeface="Trebuchet MS" pitchFamily="34" charset="0"/>
                <a:ea typeface="Trebuchet MS" pitchFamily="34" charset="-122"/>
                <a:cs typeface="Trebuchet MS" pitchFamily="34" charset="-120"/>
              </a:rPr>
              <a:t>Under Review / Interview (2)</a:t>
            </a:r>
            <a:endParaRPr lang="en-US" sz="950" dirty="0"/>
          </a:p>
        </p:txBody>
      </p:sp>
      <p:sp>
        <p:nvSpPr>
          <p:cNvPr id="25" name="Text 23"/>
          <p:cNvSpPr/>
          <p:nvPr/>
        </p:nvSpPr>
        <p:spPr>
          <a:xfrm>
            <a:off x="5074920" y="3410712"/>
            <a:ext cx="3017520" cy="182880"/>
          </a:xfrm>
          <a:prstGeom prst="rect">
            <a:avLst/>
          </a:prstGeom>
          <a:noFill/>
          <a:ln/>
        </p:spPr>
        <p:txBody>
          <a:bodyPr wrap="square" rtlCol="0" anchor="ctr"/>
          <a:lstStyle/>
          <a:p>
            <a:pPr indent="0" marL="0">
              <a:buNone/>
            </a:pPr>
            <a:r>
              <a:rPr lang="en-US" sz="800" dirty="0">
                <a:solidFill>
                  <a:srgbClr val="E2E8F0"/>
                </a:solidFill>
                <a:latin typeface="Arial" pitchFamily="34" charset="0"/>
                <a:ea typeface="Arial" pitchFamily="34" charset="-122"/>
                <a:cs typeface="Arial" pitchFamily="34" charset="-120"/>
              </a:rPr>
              <a:t>ISRO Fellowship, Razorpay</a:t>
            </a:r>
            <a:endParaRPr lang="en-US" sz="800" dirty="0"/>
          </a:p>
        </p:txBody>
      </p:sp>
      <p:sp>
        <p:nvSpPr>
          <p:cNvPr id="26" name="Shape 24"/>
          <p:cNvSpPr/>
          <p:nvPr/>
        </p:nvSpPr>
        <p:spPr>
          <a:xfrm>
            <a:off x="4937760" y="3749040"/>
            <a:ext cx="3291840" cy="502920"/>
          </a:xfrm>
          <a:prstGeom prst="roundRect">
            <a:avLst>
              <a:gd name="adj" fmla="val 10909"/>
            </a:avLst>
          </a:prstGeom>
          <a:solidFill>
            <a:srgbClr val="4A101D"/>
          </a:solidFill>
          <a:ln w="10160">
            <a:solidFill>
              <a:srgbClr val="74182F"/>
            </a:solidFill>
            <a:prstDash val="solid"/>
          </a:ln>
        </p:spPr>
      </p:sp>
      <p:sp>
        <p:nvSpPr>
          <p:cNvPr id="27" name="Text 25"/>
          <p:cNvSpPr/>
          <p:nvPr/>
        </p:nvSpPr>
        <p:spPr>
          <a:xfrm>
            <a:off x="5074920" y="3803904"/>
            <a:ext cx="2011680" cy="201168"/>
          </a:xfrm>
          <a:prstGeom prst="rect">
            <a:avLst/>
          </a:prstGeom>
          <a:noFill/>
          <a:ln/>
        </p:spPr>
        <p:txBody>
          <a:bodyPr wrap="square" rtlCol="0" anchor="ctr"/>
          <a:lstStyle/>
          <a:p>
            <a:pPr indent="0" marL="0">
              <a:buNone/>
            </a:pPr>
            <a:r>
              <a:rPr lang="en-US" sz="950" b="1" dirty="0">
                <a:solidFill>
                  <a:srgbClr val="10B981"/>
                </a:solidFill>
                <a:latin typeface="Trebuchet MS" pitchFamily="34" charset="0"/>
                <a:ea typeface="Trebuchet MS" pitchFamily="34" charset="-122"/>
                <a:cs typeface="Trebuchet MS" pitchFamily="34" charset="-120"/>
              </a:rPr>
              <a:t>Offer Extended (1)</a:t>
            </a:r>
            <a:endParaRPr lang="en-US" sz="950" dirty="0"/>
          </a:p>
        </p:txBody>
      </p:sp>
      <p:sp>
        <p:nvSpPr>
          <p:cNvPr id="28" name="Text 26"/>
          <p:cNvSpPr/>
          <p:nvPr/>
        </p:nvSpPr>
        <p:spPr>
          <a:xfrm>
            <a:off x="5074920" y="4005072"/>
            <a:ext cx="3017520" cy="182880"/>
          </a:xfrm>
          <a:prstGeom prst="rect">
            <a:avLst/>
          </a:prstGeom>
          <a:noFill/>
          <a:ln/>
        </p:spPr>
        <p:txBody>
          <a:bodyPr wrap="square" rtlCol="0" anchor="ctr"/>
          <a:lstStyle/>
          <a:p>
            <a:pPr indent="0" marL="0">
              <a:buNone/>
            </a:pPr>
            <a:r>
              <a:rPr lang="en-US" sz="800" dirty="0">
                <a:solidFill>
                  <a:srgbClr val="E2E8F0"/>
                </a:solidFill>
                <a:latin typeface="Arial" pitchFamily="34" charset="0"/>
                <a:ea typeface="Arial" pitchFamily="34" charset="-122"/>
                <a:cs typeface="Arial" pitchFamily="34" charset="-120"/>
              </a:rPr>
              <a:t>Accenture Cloud Intern (₹30k/mo)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SUSTAINABILITY &amp; REVENUE MODEL</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Freemium B2C &amp; Institutional B2B Monetization</a:t>
            </a:r>
            <a:endParaRPr lang="en-US" sz="2400" dirty="0"/>
          </a:p>
        </p:txBody>
      </p:sp>
      <p:sp>
        <p:nvSpPr>
          <p:cNvPr id="4" name="Shape 2"/>
          <p:cNvSpPr/>
          <p:nvPr/>
        </p:nvSpPr>
        <p:spPr>
          <a:xfrm>
            <a:off x="731520" y="1371600"/>
            <a:ext cx="2423160" cy="3200400"/>
          </a:xfrm>
          <a:prstGeom prst="roundRect">
            <a:avLst>
              <a:gd name="adj" fmla="val 4528"/>
            </a:avLst>
          </a:prstGeom>
          <a:solidFill>
            <a:srgbClr val="151C2C"/>
          </a:solidFill>
          <a:ln w="12700">
            <a:solidFill>
              <a:srgbClr val="243048"/>
            </a:solidFill>
            <a:prstDash val="solid"/>
          </a:ln>
          <a:effectLst>
            <a:outerShdw sx="100000" sy="100000" kx="0" ky="0" algn="bl" rotWithShape="0" blurRad="2.999493984112562e+107" dist="1.499746992056281e+107" dir="4.605706660848612e+126">
              <a:srgbClr val="000000">
                <a:alpha val="3.499999999999999e+129"/>
              </a:srgbClr>
            </a:outerShdw>
          </a:effectLst>
        </p:spPr>
      </p:sp>
      <p:sp>
        <p:nvSpPr>
          <p:cNvPr id="5" name="Text 3"/>
          <p:cNvSpPr/>
          <p:nvPr/>
        </p:nvSpPr>
        <p:spPr>
          <a:xfrm>
            <a:off x="914400" y="1554480"/>
            <a:ext cx="2057400" cy="320040"/>
          </a:xfrm>
          <a:prstGeom prst="rect">
            <a:avLst/>
          </a:prstGeom>
          <a:noFill/>
          <a:ln/>
        </p:spPr>
        <p:txBody>
          <a:bodyPr wrap="square" rtlCol="0" anchor="ctr"/>
          <a:lstStyle/>
          <a:p>
            <a:pPr algn="ctr" indent="0" marL="0">
              <a:buNone/>
            </a:pPr>
            <a:r>
              <a:rPr lang="en-US" sz="1300" b="1" dirty="0">
                <a:solidFill>
                  <a:srgbClr val="94A3B8"/>
                </a:solidFill>
                <a:latin typeface="Trebuchet MS" pitchFamily="34" charset="0"/>
                <a:ea typeface="Trebuchet MS" pitchFamily="34" charset="-122"/>
                <a:cs typeface="Trebuchet MS" pitchFamily="34" charset="-120"/>
              </a:rPr>
              <a:t>Free Forever</a:t>
            </a:r>
            <a:endParaRPr lang="en-US" sz="1300" dirty="0"/>
          </a:p>
        </p:txBody>
      </p:sp>
      <p:sp>
        <p:nvSpPr>
          <p:cNvPr id="6" name="Text 4"/>
          <p:cNvSpPr/>
          <p:nvPr/>
        </p:nvSpPr>
        <p:spPr>
          <a:xfrm>
            <a:off x="914400" y="1874520"/>
            <a:ext cx="2057400" cy="502920"/>
          </a:xfrm>
          <a:prstGeom prst="rect">
            <a:avLst/>
          </a:prstGeom>
          <a:noFill/>
          <a:ln/>
        </p:spPr>
        <p:txBody>
          <a:bodyPr wrap="square"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₹0</a:t>
            </a:r>
            <a:endParaRPr lang="en-US" sz="2600" dirty="0"/>
          </a:p>
        </p:txBody>
      </p:sp>
      <p:sp>
        <p:nvSpPr>
          <p:cNvPr id="7" name="Text 5"/>
          <p:cNvSpPr/>
          <p:nvPr/>
        </p:nvSpPr>
        <p:spPr>
          <a:xfrm>
            <a:off x="914400" y="2331720"/>
            <a:ext cx="2057400" cy="228600"/>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for all students</a:t>
            </a:r>
            <a:endParaRPr lang="en-US" sz="850" dirty="0"/>
          </a:p>
        </p:txBody>
      </p:sp>
      <p:sp>
        <p:nvSpPr>
          <p:cNvPr id="8" name="Text 6"/>
          <p:cNvSpPr/>
          <p:nvPr/>
        </p:nvSpPr>
        <p:spPr>
          <a:xfrm>
            <a:off x="914400" y="2651760"/>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Basic student profile</a:t>
            </a:r>
            <a:endParaRPr lang="en-US" sz="850" dirty="0"/>
          </a:p>
        </p:txBody>
      </p:sp>
      <p:sp>
        <p:nvSpPr>
          <p:cNvPr id="9" name="Text 7"/>
          <p:cNvSpPr/>
          <p:nvPr/>
        </p:nvSpPr>
        <p:spPr>
          <a:xfrm>
            <a:off x="914400" y="2980944"/>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5 scheme predictions / month</a:t>
            </a:r>
            <a:endParaRPr lang="en-US" sz="850" dirty="0"/>
          </a:p>
        </p:txBody>
      </p:sp>
      <p:sp>
        <p:nvSpPr>
          <p:cNvPr id="10" name="Text 8"/>
          <p:cNvSpPr/>
          <p:nvPr/>
        </p:nvSpPr>
        <p:spPr>
          <a:xfrm>
            <a:off x="914400" y="3310128"/>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5 internship match reports</a:t>
            </a:r>
            <a:endParaRPr lang="en-US" sz="850" dirty="0"/>
          </a:p>
        </p:txBody>
      </p:sp>
      <p:sp>
        <p:nvSpPr>
          <p:cNvPr id="11" name="Text 9"/>
          <p:cNvSpPr/>
          <p:nvPr/>
        </p:nvSpPr>
        <p:spPr>
          <a:xfrm>
            <a:off x="914400" y="3639312"/>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Basic skill-gap analysis</a:t>
            </a:r>
            <a:endParaRPr lang="en-US" sz="850" dirty="0"/>
          </a:p>
        </p:txBody>
      </p:sp>
      <p:sp>
        <p:nvSpPr>
          <p:cNvPr id="12" name="Text 10"/>
          <p:cNvSpPr/>
          <p:nvPr/>
        </p:nvSpPr>
        <p:spPr>
          <a:xfrm>
            <a:off x="914400" y="3968496"/>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Community forums</a:t>
            </a:r>
            <a:endParaRPr lang="en-US" sz="850" dirty="0"/>
          </a:p>
        </p:txBody>
      </p:sp>
      <p:sp>
        <p:nvSpPr>
          <p:cNvPr id="13" name="Shape 11"/>
          <p:cNvSpPr/>
          <p:nvPr/>
        </p:nvSpPr>
        <p:spPr>
          <a:xfrm>
            <a:off x="3383280" y="1371600"/>
            <a:ext cx="2423160" cy="3200400"/>
          </a:xfrm>
          <a:prstGeom prst="roundRect">
            <a:avLst>
              <a:gd name="adj" fmla="val 4528"/>
            </a:avLst>
          </a:prstGeom>
          <a:solidFill>
            <a:srgbClr val="1D1322"/>
          </a:solidFill>
          <a:ln w="19050">
            <a:solidFill>
              <a:srgbClr val="8A1C30"/>
            </a:solidFill>
            <a:prstDash val="solid"/>
          </a:ln>
          <a:effectLst>
            <a:outerShdw sx="100000" sy="100000" kx="0" ky="0" algn="bl" rotWithShape="0" blurRad="3.809357359822954e+111" dist="1.904678679911477e+111" dir="2.763423996509167e+131">
              <a:srgbClr val="000000">
                <a:alpha val="3.4999999999999992e+134"/>
              </a:srgbClr>
            </a:outerShdw>
          </a:effectLst>
        </p:spPr>
      </p:sp>
      <p:sp>
        <p:nvSpPr>
          <p:cNvPr id="14" name="Shape 12"/>
          <p:cNvSpPr/>
          <p:nvPr/>
        </p:nvSpPr>
        <p:spPr>
          <a:xfrm>
            <a:off x="3840480" y="1234440"/>
            <a:ext cx="1508760" cy="256032"/>
          </a:xfrm>
          <a:prstGeom prst="roundRect">
            <a:avLst>
              <a:gd name="adj" fmla="val 50000"/>
            </a:avLst>
          </a:prstGeom>
          <a:solidFill>
            <a:srgbClr val="8A1C30"/>
          </a:solidFill>
          <a:ln w="10160">
            <a:solidFill>
              <a:srgbClr val="FA947E"/>
            </a:solidFill>
            <a:prstDash val="solid"/>
          </a:ln>
        </p:spPr>
      </p:sp>
      <p:sp>
        <p:nvSpPr>
          <p:cNvPr id="15" name="Text 13"/>
          <p:cNvSpPr/>
          <p:nvPr/>
        </p:nvSpPr>
        <p:spPr>
          <a:xfrm>
            <a:off x="3840480" y="1234440"/>
            <a:ext cx="150876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MOST POPULAR</a:t>
            </a:r>
            <a:endParaRPr lang="en-US" sz="800" dirty="0"/>
          </a:p>
        </p:txBody>
      </p:sp>
      <p:sp>
        <p:nvSpPr>
          <p:cNvPr id="16" name="Text 14"/>
          <p:cNvSpPr/>
          <p:nvPr/>
        </p:nvSpPr>
        <p:spPr>
          <a:xfrm>
            <a:off x="3566160" y="1554480"/>
            <a:ext cx="2057400" cy="320040"/>
          </a:xfrm>
          <a:prstGeom prst="rect">
            <a:avLst/>
          </a:prstGeom>
          <a:noFill/>
          <a:ln/>
        </p:spPr>
        <p:txBody>
          <a:bodyPr wrap="square" rtlCol="0" anchor="ctr"/>
          <a:lstStyle/>
          <a:p>
            <a:pPr algn="ctr" indent="0" marL="0">
              <a:buNone/>
            </a:pPr>
            <a:r>
              <a:rPr lang="en-US" sz="1300" b="1" dirty="0">
                <a:solidFill>
                  <a:srgbClr val="FA947E"/>
                </a:solidFill>
                <a:latin typeface="Trebuchet MS" pitchFamily="34" charset="0"/>
                <a:ea typeface="Trebuchet MS" pitchFamily="34" charset="-122"/>
                <a:cs typeface="Trebuchet MS" pitchFamily="34" charset="-120"/>
              </a:rPr>
              <a:t>Student Pro</a:t>
            </a:r>
            <a:endParaRPr lang="en-US" sz="1300" dirty="0"/>
          </a:p>
        </p:txBody>
      </p:sp>
      <p:sp>
        <p:nvSpPr>
          <p:cNvPr id="17" name="Text 15"/>
          <p:cNvSpPr/>
          <p:nvPr/>
        </p:nvSpPr>
        <p:spPr>
          <a:xfrm>
            <a:off x="3566160" y="1874520"/>
            <a:ext cx="2057400" cy="502920"/>
          </a:xfrm>
          <a:prstGeom prst="rect">
            <a:avLst/>
          </a:prstGeom>
          <a:noFill/>
          <a:ln/>
        </p:spPr>
        <p:txBody>
          <a:bodyPr wrap="square"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₹99</a:t>
            </a:r>
            <a:endParaRPr lang="en-US" sz="2600" dirty="0"/>
          </a:p>
        </p:txBody>
      </p:sp>
      <p:sp>
        <p:nvSpPr>
          <p:cNvPr id="18" name="Text 16"/>
          <p:cNvSpPr/>
          <p:nvPr/>
        </p:nvSpPr>
        <p:spPr>
          <a:xfrm>
            <a:off x="3566160" y="2331720"/>
            <a:ext cx="2057400" cy="228600"/>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per month (or ₹999/yr)</a:t>
            </a:r>
            <a:endParaRPr lang="en-US" sz="850" dirty="0"/>
          </a:p>
        </p:txBody>
      </p:sp>
      <p:sp>
        <p:nvSpPr>
          <p:cNvPr id="19" name="Text 17"/>
          <p:cNvSpPr/>
          <p:nvPr/>
        </p:nvSpPr>
        <p:spPr>
          <a:xfrm>
            <a:off x="3566160" y="2651760"/>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Unlimited scheme predictions</a:t>
            </a:r>
            <a:endParaRPr lang="en-US" sz="850" dirty="0"/>
          </a:p>
        </p:txBody>
      </p:sp>
      <p:sp>
        <p:nvSpPr>
          <p:cNvPr id="20" name="Text 18"/>
          <p:cNvSpPr/>
          <p:nvPr/>
        </p:nvSpPr>
        <p:spPr>
          <a:xfrm>
            <a:off x="3566160" y="2980944"/>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Unlimited internship fit scores</a:t>
            </a:r>
            <a:endParaRPr lang="en-US" sz="850" dirty="0"/>
          </a:p>
        </p:txBody>
      </p:sp>
      <p:sp>
        <p:nvSpPr>
          <p:cNvPr id="21" name="Text 19"/>
          <p:cNvSpPr/>
          <p:nvPr/>
        </p:nvSpPr>
        <p:spPr>
          <a:xfrm>
            <a:off x="3566160" y="3310128"/>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OpenRouter AI bilingual copilot</a:t>
            </a:r>
            <a:endParaRPr lang="en-US" sz="850" dirty="0"/>
          </a:p>
        </p:txBody>
      </p:sp>
      <p:sp>
        <p:nvSpPr>
          <p:cNvPr id="22" name="Text 20"/>
          <p:cNvSpPr/>
          <p:nvPr/>
        </p:nvSpPr>
        <p:spPr>
          <a:xfrm>
            <a:off x="3566160" y="3639312"/>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ATS resume builder &amp; PDF export</a:t>
            </a:r>
            <a:endParaRPr lang="en-US" sz="850" dirty="0"/>
          </a:p>
        </p:txBody>
      </p:sp>
      <p:sp>
        <p:nvSpPr>
          <p:cNvPr id="23" name="Text 21"/>
          <p:cNvSpPr/>
          <p:nvPr/>
        </p:nvSpPr>
        <p:spPr>
          <a:xfrm>
            <a:off x="3566160" y="3968496"/>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Priority deadline radar alerts</a:t>
            </a:r>
            <a:endParaRPr lang="en-US" sz="850" dirty="0"/>
          </a:p>
        </p:txBody>
      </p:sp>
      <p:sp>
        <p:nvSpPr>
          <p:cNvPr id="24" name="Shape 22"/>
          <p:cNvSpPr/>
          <p:nvPr/>
        </p:nvSpPr>
        <p:spPr>
          <a:xfrm>
            <a:off x="6035040" y="1371600"/>
            <a:ext cx="2423160" cy="3200400"/>
          </a:xfrm>
          <a:prstGeom prst="roundRect">
            <a:avLst>
              <a:gd name="adj" fmla="val 4528"/>
            </a:avLst>
          </a:prstGeom>
          <a:solidFill>
            <a:srgbClr val="151C2C"/>
          </a:solidFill>
          <a:ln w="12700">
            <a:solidFill>
              <a:srgbClr val="243048"/>
            </a:solidFill>
            <a:prstDash val="solid"/>
          </a:ln>
          <a:effectLst>
            <a:outerShdw sx="100000" sy="100000" kx="0" ky="0" algn="bl" rotWithShape="0" blurRad="4.837883846975152e+115" dist="2.418941923487576e+115" dir="1.6580543979055003e+136">
              <a:srgbClr val="000000">
                <a:alpha val="3.499999999999999e+139"/>
              </a:srgbClr>
            </a:outerShdw>
          </a:effectLst>
        </p:spPr>
      </p:sp>
      <p:sp>
        <p:nvSpPr>
          <p:cNvPr id="25" name="Text 23"/>
          <p:cNvSpPr/>
          <p:nvPr/>
        </p:nvSpPr>
        <p:spPr>
          <a:xfrm>
            <a:off x="6217920" y="1554480"/>
            <a:ext cx="2057400" cy="320040"/>
          </a:xfrm>
          <a:prstGeom prst="rect">
            <a:avLst/>
          </a:prstGeom>
          <a:noFill/>
          <a:ln/>
        </p:spPr>
        <p:txBody>
          <a:bodyPr wrap="square" rtlCol="0" anchor="ctr"/>
          <a:lstStyle/>
          <a:p>
            <a:pPr algn="ctr" indent="0" marL="0">
              <a:buNone/>
            </a:pPr>
            <a:r>
              <a:rPr lang="en-US" sz="1300" b="1" dirty="0">
                <a:solidFill>
                  <a:srgbClr val="38BDF8"/>
                </a:solidFill>
                <a:latin typeface="Trebuchet MS" pitchFamily="34" charset="0"/>
                <a:ea typeface="Trebuchet MS" pitchFamily="34" charset="-122"/>
                <a:cs typeface="Trebuchet MS" pitchFamily="34" charset="-120"/>
              </a:rPr>
              <a:t>College Enterprise</a:t>
            </a:r>
            <a:endParaRPr lang="en-US" sz="1300" dirty="0"/>
          </a:p>
        </p:txBody>
      </p:sp>
      <p:sp>
        <p:nvSpPr>
          <p:cNvPr id="26" name="Text 24"/>
          <p:cNvSpPr/>
          <p:nvPr/>
        </p:nvSpPr>
        <p:spPr>
          <a:xfrm>
            <a:off x="6217920" y="1874520"/>
            <a:ext cx="2057400" cy="502920"/>
          </a:xfrm>
          <a:prstGeom prst="rect">
            <a:avLst/>
          </a:prstGeom>
          <a:noFill/>
          <a:ln/>
        </p:spPr>
        <p:txBody>
          <a:bodyPr wrap="square" rtlCol="0" anchor="ctr"/>
          <a:lstStyle/>
          <a:p>
            <a:pPr algn="ctr" indent="0" marL="0">
              <a:buNone/>
            </a:pPr>
            <a:r>
              <a:rPr lang="en-US" sz="2600" b="1" dirty="0">
                <a:solidFill>
                  <a:srgbClr val="FFFFFF"/>
                </a:solidFill>
                <a:latin typeface="Trebuchet MS" pitchFamily="34" charset="0"/>
                <a:ea typeface="Trebuchet MS" pitchFamily="34" charset="-122"/>
                <a:cs typeface="Trebuchet MS" pitchFamily="34" charset="-120"/>
              </a:rPr>
              <a:t>Custom</a:t>
            </a:r>
            <a:endParaRPr lang="en-US" sz="2600" dirty="0"/>
          </a:p>
        </p:txBody>
      </p:sp>
      <p:sp>
        <p:nvSpPr>
          <p:cNvPr id="27" name="Text 25"/>
          <p:cNvSpPr/>
          <p:nvPr/>
        </p:nvSpPr>
        <p:spPr>
          <a:xfrm>
            <a:off x="6217920" y="2331720"/>
            <a:ext cx="2057400" cy="228600"/>
          </a:xfrm>
          <a:prstGeom prst="rect">
            <a:avLst/>
          </a:prstGeom>
          <a:noFill/>
          <a:ln/>
        </p:spPr>
        <p:txBody>
          <a:bodyPr wrap="square"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per institution / year</a:t>
            </a:r>
            <a:endParaRPr lang="en-US" sz="850" dirty="0"/>
          </a:p>
        </p:txBody>
      </p:sp>
      <p:sp>
        <p:nvSpPr>
          <p:cNvPr id="28" name="Text 26"/>
          <p:cNvSpPr/>
          <p:nvPr/>
        </p:nvSpPr>
        <p:spPr>
          <a:xfrm>
            <a:off x="6217920" y="2651760"/>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Centralized placement dashboard</a:t>
            </a:r>
            <a:endParaRPr lang="en-US" sz="850" dirty="0"/>
          </a:p>
        </p:txBody>
      </p:sp>
      <p:sp>
        <p:nvSpPr>
          <p:cNvPr id="29" name="Text 27"/>
          <p:cNvSpPr/>
          <p:nvPr/>
        </p:nvSpPr>
        <p:spPr>
          <a:xfrm>
            <a:off x="6217920" y="2980944"/>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NAAC / NIRF accreditation data</a:t>
            </a:r>
            <a:endParaRPr lang="en-US" sz="850" dirty="0"/>
          </a:p>
        </p:txBody>
      </p:sp>
      <p:sp>
        <p:nvSpPr>
          <p:cNvPr id="30" name="Text 28"/>
          <p:cNvSpPr/>
          <p:nvPr/>
        </p:nvSpPr>
        <p:spPr>
          <a:xfrm>
            <a:off x="6217920" y="3310128"/>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Bulk student cohort onboarding</a:t>
            </a:r>
            <a:endParaRPr lang="en-US" sz="850" dirty="0"/>
          </a:p>
        </p:txBody>
      </p:sp>
      <p:sp>
        <p:nvSpPr>
          <p:cNvPr id="31" name="Text 29"/>
          <p:cNvSpPr/>
          <p:nvPr/>
        </p:nvSpPr>
        <p:spPr>
          <a:xfrm>
            <a:off x="6217920" y="3639312"/>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Custom department skill analytics</a:t>
            </a:r>
            <a:endParaRPr lang="en-US" sz="850" dirty="0"/>
          </a:p>
        </p:txBody>
      </p:sp>
      <p:sp>
        <p:nvSpPr>
          <p:cNvPr id="32" name="Text 30"/>
          <p:cNvSpPr/>
          <p:nvPr/>
        </p:nvSpPr>
        <p:spPr>
          <a:xfrm>
            <a:off x="6217920" y="3968496"/>
            <a:ext cx="2057400" cy="292608"/>
          </a:xfrm>
          <a:prstGeom prst="rect">
            <a:avLst/>
          </a:prstGeom>
          <a:noFill/>
          <a:ln/>
        </p:spPr>
        <p:txBody>
          <a:bodyPr wrap="square" rtlCol="0" anchor="ctr"/>
          <a:lstStyle/>
          <a:p>
            <a:pPr indent="0" marL="0">
              <a:buNone/>
            </a:pPr>
            <a:r>
              <a:rPr lang="en-US" sz="850" dirty="0">
                <a:solidFill>
                  <a:srgbClr val="E2E8F0"/>
                </a:solidFill>
                <a:latin typeface="Arial" pitchFamily="34" charset="0"/>
                <a:ea typeface="Arial" pitchFamily="34" charset="-122"/>
                <a:cs typeface="Arial" pitchFamily="34" charset="-120"/>
              </a:rPr>
              <a:t>✓ Dedicated support manager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9"/>
        </a:solidFill>
      </p:bgPr>
    </p:bg>
    <p:spTree>
      <p:nvGrpSpPr>
        <p:cNvPr id="1" name=""/>
        <p:cNvGrpSpPr/>
        <p:nvPr/>
      </p:nvGrpSpPr>
      <p:grpSpPr>
        <a:xfrm>
          <a:off x="0" y="0"/>
          <a:ext cx="0" cy="0"/>
          <a:chOff x="0" y="0"/>
          <a:chExt cx="0" cy="0"/>
        </a:xfrm>
      </p:grpSpPr>
      <p:sp>
        <p:nvSpPr>
          <p:cNvPr id="2" name="Text 0"/>
          <p:cNvSpPr/>
          <p:nvPr/>
        </p:nvSpPr>
        <p:spPr>
          <a:xfrm>
            <a:off x="731520" y="457200"/>
            <a:ext cx="7680960" cy="274320"/>
          </a:xfrm>
          <a:prstGeom prst="rect">
            <a:avLst/>
          </a:prstGeom>
          <a:noFill/>
          <a:ln/>
        </p:spPr>
        <p:txBody>
          <a:bodyPr wrap="square" rtlCol="0" anchor="ctr"/>
          <a:lstStyle/>
          <a:p>
            <a:pPr indent="0" marL="0">
              <a:buNone/>
            </a:pPr>
            <a:r>
              <a:rPr lang="en-US" sz="1000" b="1" dirty="0">
                <a:solidFill>
                  <a:srgbClr val="FA947E"/>
                </a:solidFill>
                <a:latin typeface="Arial" pitchFamily="34" charset="0"/>
                <a:ea typeface="Arial" pitchFamily="34" charset="-122"/>
                <a:cs typeface="Arial" pitchFamily="34" charset="-120"/>
              </a:rPr>
              <a:t>FUTURE ROADMAP &amp; SOCIAL IMPACT</a:t>
            </a:r>
            <a:endParaRPr lang="en-US" sz="1000" dirty="0"/>
          </a:p>
        </p:txBody>
      </p:sp>
      <p:sp>
        <p:nvSpPr>
          <p:cNvPr id="3" name="Text 1"/>
          <p:cNvSpPr/>
          <p:nvPr/>
        </p:nvSpPr>
        <p:spPr>
          <a:xfrm>
            <a:off x="731520" y="777240"/>
            <a:ext cx="7680960" cy="45720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Empowering 40 Million Indian Higher Education Students</a:t>
            </a:r>
            <a:endParaRPr lang="en-US" sz="2400" dirty="0"/>
          </a:p>
        </p:txBody>
      </p:sp>
      <p:pic>
        <p:nvPicPr>
          <p:cNvPr id="4" name="Image 0" descr="D:\hackathon\backend\assets\images\success_employment.jpg">    </p:cNvPr>
          <p:cNvPicPr>
            <a:picLocks noChangeAspect="1"/>
          </p:cNvPicPr>
          <p:nvPr/>
        </p:nvPicPr>
        <p:blipFill>
          <a:blip r:embed="rId1"/>
          <a:stretch>
            <a:fillRect/>
          </a:stretch>
        </p:blipFill>
        <p:spPr>
          <a:xfrm>
            <a:off x="731520" y="1371600"/>
            <a:ext cx="2560320" cy="3200400"/>
          </a:xfrm>
          <a:prstGeom prst="ellipse">
            <a:avLst/>
          </a:prstGeom>
          <a:effectLst>
            <a:outerShdw sx="100000" sy="100000" kx="0" ky="0" algn="bl" rotWithShape="0" blurRad="6.144112485658443e+119" dist="3.0720562428292216e+119" dir="9.948326387433001e+140">
              <a:srgbClr val="000000">
                <a:alpha val="3.499999999999999e+144"/>
              </a:srgbClr>
            </a:outerShdw>
          </a:effectLst>
        </p:spPr>
      </p:pic>
      <p:sp>
        <p:nvSpPr>
          <p:cNvPr id="5" name="Shape 2"/>
          <p:cNvSpPr/>
          <p:nvPr/>
        </p:nvSpPr>
        <p:spPr>
          <a:xfrm>
            <a:off x="868680" y="4069080"/>
            <a:ext cx="2286000" cy="384048"/>
          </a:xfrm>
          <a:prstGeom prst="roundRect">
            <a:avLst>
              <a:gd name="adj" fmla="val 19048"/>
            </a:avLst>
          </a:prstGeom>
          <a:solidFill>
            <a:srgbClr val="000000">
              <a:alpha val="70000"/>
            </a:srgbClr>
          </a:solidFill>
          <a:ln w="12700">
            <a:solidFill>
              <a:srgbClr val="10B981"/>
            </a:solidFill>
            <a:prstDash val="solid"/>
          </a:ln>
        </p:spPr>
      </p:sp>
      <p:sp>
        <p:nvSpPr>
          <p:cNvPr id="6" name="Text 3"/>
          <p:cNvSpPr/>
          <p:nvPr/>
        </p:nvSpPr>
        <p:spPr>
          <a:xfrm>
            <a:off x="914400" y="4069080"/>
            <a:ext cx="2194560" cy="384048"/>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From Classroom to Career</a:t>
            </a:r>
            <a:endParaRPr lang="en-US" sz="900" dirty="0"/>
          </a:p>
        </p:txBody>
      </p:sp>
      <p:sp>
        <p:nvSpPr>
          <p:cNvPr id="7" name="Shape 4"/>
          <p:cNvSpPr/>
          <p:nvPr/>
        </p:nvSpPr>
        <p:spPr>
          <a:xfrm>
            <a:off x="3474720" y="1371600"/>
            <a:ext cx="4937760" cy="987552"/>
          </a:xfrm>
          <a:prstGeom prst="roundRect">
            <a:avLst>
              <a:gd name="adj" fmla="val 9259"/>
            </a:avLst>
          </a:prstGeom>
          <a:solidFill>
            <a:srgbClr val="151C2C"/>
          </a:solidFill>
          <a:ln w="12700">
            <a:solidFill>
              <a:srgbClr val="10B981"/>
            </a:solidFill>
            <a:prstDash val="solid"/>
          </a:ln>
          <a:effectLst>
            <a:outerShdw sx="100000" sy="100000" kx="0" ky="0" algn="bl" rotWithShape="0" blurRad="7.803022856786223e+123" dist="3.9015114283931116e+123" dir="5.9689958324598e+145">
              <a:srgbClr val="000000">
                <a:alpha val="3.499999999999999e+149"/>
              </a:srgbClr>
            </a:outerShdw>
          </a:effectLst>
        </p:spPr>
      </p:sp>
      <p:sp>
        <p:nvSpPr>
          <p:cNvPr id="8" name="Text 5"/>
          <p:cNvSpPr/>
          <p:nvPr/>
        </p:nvSpPr>
        <p:spPr>
          <a:xfrm>
            <a:off x="3657600" y="1463040"/>
            <a:ext cx="4572000" cy="201168"/>
          </a:xfrm>
          <a:prstGeom prst="rect">
            <a:avLst/>
          </a:prstGeom>
          <a:noFill/>
          <a:ln/>
        </p:spPr>
        <p:txBody>
          <a:bodyPr wrap="square" rtlCol="0" anchor="ctr"/>
          <a:lstStyle/>
          <a:p>
            <a:pPr indent="0" marL="0">
              <a:buNone/>
            </a:pPr>
            <a:r>
              <a:rPr lang="en-US" sz="850" b="1" dirty="0">
                <a:solidFill>
                  <a:srgbClr val="10B981"/>
                </a:solidFill>
                <a:latin typeface="Trebuchet MS" pitchFamily="34" charset="0"/>
                <a:ea typeface="Trebuchet MS" pitchFamily="34" charset="-122"/>
                <a:cs typeface="Trebuchet MS" pitchFamily="34" charset="-120"/>
              </a:rPr>
              <a:t>PHASE 1 (COMPLETED - MVP)</a:t>
            </a:r>
            <a:endParaRPr lang="en-US" sz="850" dirty="0"/>
          </a:p>
        </p:txBody>
      </p:sp>
      <p:sp>
        <p:nvSpPr>
          <p:cNvPr id="9" name="Text 6"/>
          <p:cNvSpPr/>
          <p:nvPr/>
        </p:nvSpPr>
        <p:spPr>
          <a:xfrm>
            <a:off x="3657600" y="1664208"/>
            <a:ext cx="4572000" cy="256032"/>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Full-Stack Foundation &amp; Deterministic Engine</a:t>
            </a:r>
            <a:endParaRPr lang="en-US" sz="1100" dirty="0"/>
          </a:p>
        </p:txBody>
      </p:sp>
      <p:sp>
        <p:nvSpPr>
          <p:cNvPr id="10" name="Text 7"/>
          <p:cNvSpPr/>
          <p:nvPr/>
        </p:nvSpPr>
        <p:spPr>
          <a:xfrm>
            <a:off x="3657600" y="1901952"/>
            <a:ext cx="4572000" cy="4114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Production SQLite database, 13 verified schemes, 35 internships, OpenRouter AI streaming, bilingual Telugu/English support, ATS PDF resume builder.</a:t>
            </a:r>
            <a:endParaRPr lang="en-US" sz="850" dirty="0"/>
          </a:p>
        </p:txBody>
      </p:sp>
      <p:sp>
        <p:nvSpPr>
          <p:cNvPr id="11" name="Shape 8"/>
          <p:cNvSpPr/>
          <p:nvPr/>
        </p:nvSpPr>
        <p:spPr>
          <a:xfrm>
            <a:off x="3474720" y="2450592"/>
            <a:ext cx="4937760" cy="987552"/>
          </a:xfrm>
          <a:prstGeom prst="roundRect">
            <a:avLst>
              <a:gd name="adj" fmla="val 9259"/>
            </a:avLst>
          </a:prstGeom>
          <a:solidFill>
            <a:srgbClr val="151C2C"/>
          </a:solidFill>
          <a:ln w="12700">
            <a:solidFill>
              <a:srgbClr val="243048"/>
            </a:solidFill>
            <a:prstDash val="solid"/>
          </a:ln>
          <a:effectLst>
            <a:outerShdw sx="100000" sy="100000" kx="0" ky="0" algn="bl" rotWithShape="0" blurRad="9.909839028118503e+127" dist="4.954919514059251e+127" dir="3.58139749947588e+150">
              <a:srgbClr val="000000">
                <a:alpha val="3.499999999999999e+154"/>
              </a:srgbClr>
            </a:outerShdw>
          </a:effectLst>
        </p:spPr>
      </p:sp>
      <p:sp>
        <p:nvSpPr>
          <p:cNvPr id="12" name="Text 9"/>
          <p:cNvSpPr/>
          <p:nvPr/>
        </p:nvSpPr>
        <p:spPr>
          <a:xfrm>
            <a:off x="3657600" y="2542032"/>
            <a:ext cx="4572000" cy="201168"/>
          </a:xfrm>
          <a:prstGeom prst="rect">
            <a:avLst/>
          </a:prstGeom>
          <a:noFill/>
          <a:ln/>
        </p:spPr>
        <p:txBody>
          <a:bodyPr wrap="square" rtlCol="0" anchor="ctr"/>
          <a:lstStyle/>
          <a:p>
            <a:pPr indent="0" marL="0">
              <a:buNone/>
            </a:pPr>
            <a:r>
              <a:rPr lang="en-US" sz="850" b="1" dirty="0">
                <a:solidFill>
                  <a:srgbClr val="FA947E"/>
                </a:solidFill>
                <a:latin typeface="Trebuchet MS" pitchFamily="34" charset="0"/>
                <a:ea typeface="Trebuchet MS" pitchFamily="34" charset="-122"/>
                <a:cs typeface="Trebuchet MS" pitchFamily="34" charset="-120"/>
              </a:rPr>
              <a:t>PHASE 2 (Q2 2026 - SCALING)</a:t>
            </a:r>
            <a:endParaRPr lang="en-US" sz="850" dirty="0"/>
          </a:p>
        </p:txBody>
      </p:sp>
      <p:sp>
        <p:nvSpPr>
          <p:cNvPr id="13" name="Text 10"/>
          <p:cNvSpPr/>
          <p:nvPr/>
        </p:nvSpPr>
        <p:spPr>
          <a:xfrm>
            <a:off x="3657600" y="2743200"/>
            <a:ext cx="4572000" cy="256032"/>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WhatsApp Deadline Radar &amp; DigiLocker Verification</a:t>
            </a:r>
            <a:endParaRPr lang="en-US" sz="1100" dirty="0"/>
          </a:p>
        </p:txBody>
      </p:sp>
      <p:sp>
        <p:nvSpPr>
          <p:cNvPr id="14" name="Text 11"/>
          <p:cNvSpPr/>
          <p:nvPr/>
        </p:nvSpPr>
        <p:spPr>
          <a:xfrm>
            <a:off x="3657600" y="2980944"/>
            <a:ext cx="4572000" cy="4114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Proactive SMS/WhatsApp reminders 48 hours before scheme deadlines. Instant 1-click document authentication via National DigiLocker API.</a:t>
            </a:r>
            <a:endParaRPr lang="en-US" sz="850" dirty="0"/>
          </a:p>
        </p:txBody>
      </p:sp>
      <p:sp>
        <p:nvSpPr>
          <p:cNvPr id="15" name="Shape 12"/>
          <p:cNvSpPr/>
          <p:nvPr/>
        </p:nvSpPr>
        <p:spPr>
          <a:xfrm>
            <a:off x="3474720" y="3529584"/>
            <a:ext cx="4937760" cy="987552"/>
          </a:xfrm>
          <a:prstGeom prst="roundRect">
            <a:avLst>
              <a:gd name="adj" fmla="val 9259"/>
            </a:avLst>
          </a:prstGeom>
          <a:solidFill>
            <a:srgbClr val="151C2C"/>
          </a:solidFill>
          <a:ln w="12700">
            <a:solidFill>
              <a:srgbClr val="243048"/>
            </a:solidFill>
            <a:prstDash val="solid"/>
          </a:ln>
          <a:effectLst>
            <a:outerShdw sx="100000" sy="100000" kx="0" ky="0" algn="bl" rotWithShape="0" blurRad="1.2585495565710499e+132" dist="6.2927477828552495e+131" dir="2.148838499685528e+155">
              <a:srgbClr val="000000">
                <a:alpha val="3.499999999999999e+159"/>
              </a:srgbClr>
            </a:outerShdw>
          </a:effectLst>
        </p:spPr>
      </p:sp>
      <p:sp>
        <p:nvSpPr>
          <p:cNvPr id="16" name="Text 13"/>
          <p:cNvSpPr/>
          <p:nvPr/>
        </p:nvSpPr>
        <p:spPr>
          <a:xfrm>
            <a:off x="3657600" y="3621024"/>
            <a:ext cx="4572000" cy="201168"/>
          </a:xfrm>
          <a:prstGeom prst="rect">
            <a:avLst/>
          </a:prstGeom>
          <a:noFill/>
          <a:ln/>
        </p:spPr>
        <p:txBody>
          <a:bodyPr wrap="square" rtlCol="0" anchor="ctr"/>
          <a:lstStyle/>
          <a:p>
            <a:pPr indent="0" marL="0">
              <a:buNone/>
            </a:pPr>
            <a:r>
              <a:rPr lang="en-US" sz="850" b="1" dirty="0">
                <a:solidFill>
                  <a:srgbClr val="FA947E"/>
                </a:solidFill>
                <a:latin typeface="Trebuchet MS" pitchFamily="34" charset="0"/>
                <a:ea typeface="Trebuchet MS" pitchFamily="34" charset="-122"/>
                <a:cs typeface="Trebuchet MS" pitchFamily="34" charset="-120"/>
              </a:rPr>
              <a:t>PHASE 3 (Q3-Q4 2026 - ECOSYSTEM)</a:t>
            </a:r>
            <a:endParaRPr lang="en-US" sz="850" dirty="0"/>
          </a:p>
        </p:txBody>
      </p:sp>
      <p:sp>
        <p:nvSpPr>
          <p:cNvPr id="17" name="Text 14"/>
          <p:cNvSpPr/>
          <p:nvPr/>
        </p:nvSpPr>
        <p:spPr>
          <a:xfrm>
            <a:off x="3657600" y="3822192"/>
            <a:ext cx="4572000" cy="256032"/>
          </a:xfrm>
          <a:prstGeom prst="rect">
            <a:avLst/>
          </a:prstGeom>
          <a:noFill/>
          <a:ln/>
        </p:spPr>
        <p:txBody>
          <a:bodyPr wrap="square"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Direct Recruiter Portal &amp; Pan-India State Expansion</a:t>
            </a:r>
            <a:endParaRPr lang="en-US" sz="1100" dirty="0"/>
          </a:p>
        </p:txBody>
      </p:sp>
      <p:sp>
        <p:nvSpPr>
          <p:cNvPr id="18" name="Text 15"/>
          <p:cNvSpPr/>
          <p:nvPr/>
        </p:nvSpPr>
        <p:spPr>
          <a:xfrm>
            <a:off x="3657600" y="4059936"/>
            <a:ext cx="4572000" cy="411480"/>
          </a:xfrm>
          <a:prstGeom prst="rect">
            <a:avLst/>
          </a:prstGeom>
          <a:noFill/>
          <a:ln/>
        </p:spPr>
        <p:txBody>
          <a:bodyPr wrap="square" rtlCol="0" anchor="ctr"/>
          <a:lstStyle/>
          <a:p>
            <a:pPr indent="0" marL="0">
              <a:lnSpc>
                <a:spcPct val="115000"/>
              </a:lnSpc>
              <a:buNone/>
            </a:pPr>
            <a:r>
              <a:rPr lang="en-US" sz="850" dirty="0">
                <a:solidFill>
                  <a:srgbClr val="94A3B8"/>
                </a:solidFill>
                <a:latin typeface="Arial" pitchFamily="34" charset="0"/>
                <a:ea typeface="Arial" pitchFamily="34" charset="-122"/>
                <a:cs typeface="Arial" pitchFamily="34" charset="-120"/>
              </a:rPr>
              <a:t>Verified candidate matching for corporate hiring partners. Automated ingestion of all 28 state scholarship portals and university placement cells.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Saarathi - From Eligibility to Employment</dc:title>
  <dc:subject>AI Student Career &amp; Scholarship Companion Pitch Deck</dc:subject>
  <dc:creator>Saarathi Hackathon Team</dc:creator>
  <cp:lastModifiedBy>Saarathi Hackathon Team</cp:lastModifiedBy>
  <cp:revision>1</cp:revision>
  <dcterms:created xsi:type="dcterms:W3CDTF">2026-10-25T13:24:09Z</dcterms:created>
  <dcterms:modified xsi:type="dcterms:W3CDTF">2026-10-25T13:24:09Z</dcterms:modified>
</cp:coreProperties>
</file>